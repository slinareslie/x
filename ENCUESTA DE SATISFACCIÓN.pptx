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al" panose="020B0604020202020204" pitchFamily="34" charset="0"/>
      <p:regular r:id="rId15"/>
    </p:embeddedFont>
    <p:embeddedFont>
      <p:font typeface="Arial Bold" panose="020B0604020202020204" charset="0"/>
      <p:regular r:id="rId16"/>
    </p:embeddedFont>
    <p:embeddedFont>
      <p:font typeface="Calibri" panose="020F0502020204030204" pitchFamily="34" charset="0"/>
      <p:regular r:id="rId17"/>
      <p:bold r:id="rId18"/>
      <p:italic r:id="rId19"/>
      <p:boldItalic r:id="rId20"/>
    </p:embeddedFont>
    <p:embeddedFont>
      <p:font typeface="Chau Philomene" panose="020B0604020202020204" charset="0"/>
      <p:regular r:id="rId21"/>
    </p:embeddedFont>
    <p:embeddedFont>
      <p:font typeface="Roboto" panose="02000000000000000000" pitchFamily="2" charset="0"/>
      <p:regular r:id="rId22"/>
    </p:embeddedFont>
    <p:embeddedFont>
      <p:font typeface="Roboto Bold" panose="02000000000000000000"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8.png"/><Relationship Id="rId5" Type="http://schemas.openxmlformats.org/officeDocument/2006/relationships/image" Target="../media/image7.png"/><Relationship Id="rId10" Type="http://schemas.openxmlformats.org/officeDocument/2006/relationships/image" Target="../media/image17.svg"/><Relationship Id="rId4" Type="http://schemas.openxmlformats.org/officeDocument/2006/relationships/image" Target="../media/image6.sv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9820">
            <a:off x="7236857" y="-979199"/>
            <a:ext cx="10976877" cy="12228052"/>
            <a:chOff x="0" y="0"/>
            <a:chExt cx="14635836" cy="16304070"/>
          </a:xfrm>
        </p:grpSpPr>
        <p:sp>
          <p:nvSpPr>
            <p:cNvPr id="3" name="Freeform 3"/>
            <p:cNvSpPr/>
            <p:nvPr/>
          </p:nvSpPr>
          <p:spPr>
            <a:xfrm>
              <a:off x="0" y="0"/>
              <a:ext cx="14635862" cy="16304133"/>
            </a:xfrm>
            <a:custGeom>
              <a:avLst/>
              <a:gdLst/>
              <a:ahLst/>
              <a:cxnLst/>
              <a:rect l="l" t="t" r="r" b="b"/>
              <a:pathLst>
                <a:path w="14635862" h="16304133">
                  <a:moveTo>
                    <a:pt x="6201156" y="0"/>
                  </a:moveTo>
                  <a:lnTo>
                    <a:pt x="0" y="1171702"/>
                  </a:lnTo>
                  <a:lnTo>
                    <a:pt x="8434705" y="16304133"/>
                  </a:lnTo>
                  <a:lnTo>
                    <a:pt x="14635862" y="15132431"/>
                  </a:lnTo>
                  <a:lnTo>
                    <a:pt x="6201156" y="0"/>
                  </a:lnTo>
                  <a:close/>
                </a:path>
              </a:pathLst>
            </a:custGeom>
            <a:blipFill>
              <a:blip r:embed="rId3"/>
              <a:stretch>
                <a:fillRect l="-33444" r="-33444"/>
              </a:stretch>
            </a:blipFill>
          </p:spPr>
        </p:sp>
      </p:grpSp>
      <p:sp>
        <p:nvSpPr>
          <p:cNvPr id="4" name="Freeform 4"/>
          <p:cNvSpPr/>
          <p:nvPr/>
        </p:nvSpPr>
        <p:spPr>
          <a:xfrm>
            <a:off x="13087826" y="-17345"/>
            <a:ext cx="5200174" cy="10304345"/>
          </a:xfrm>
          <a:custGeom>
            <a:avLst/>
            <a:gdLst/>
            <a:ahLst/>
            <a:cxnLst/>
            <a:rect l="l" t="t" r="r" b="b"/>
            <a:pathLst>
              <a:path w="5200174" h="10304345">
                <a:moveTo>
                  <a:pt x="0" y="0"/>
                </a:moveTo>
                <a:lnTo>
                  <a:pt x="5200174" y="0"/>
                </a:lnTo>
                <a:lnTo>
                  <a:pt x="5200174" y="10304345"/>
                </a:lnTo>
                <a:lnTo>
                  <a:pt x="0" y="10304345"/>
                </a:lnTo>
                <a:lnTo>
                  <a:pt x="0" y="0"/>
                </a:lnTo>
                <a:close/>
              </a:path>
            </a:pathLst>
          </a:custGeom>
          <a:blipFill>
            <a:blip r:embed="rId4">
              <a:extLst>
                <a:ext uri="{96DAC541-7B7A-43D3-8B79-37D633B846F1}">
                  <asvg:svgBlip xmlns:asvg="http://schemas.microsoft.com/office/drawing/2016/SVG/main" r:embed="rId5"/>
                </a:ext>
              </a:extLst>
            </a:blip>
            <a:stretch>
              <a:fillRect t="-3" b="-3"/>
            </a:stretch>
          </a:blipFill>
        </p:spPr>
      </p:sp>
      <p:grpSp>
        <p:nvGrpSpPr>
          <p:cNvPr id="65" name="Group 65"/>
          <p:cNvGrpSpPr/>
          <p:nvPr/>
        </p:nvGrpSpPr>
        <p:grpSpPr>
          <a:xfrm>
            <a:off x="-28118" y="9052122"/>
            <a:ext cx="6924294" cy="1234916"/>
            <a:chOff x="0" y="0"/>
            <a:chExt cx="9232392" cy="1646555"/>
          </a:xfrm>
        </p:grpSpPr>
        <p:sp>
          <p:nvSpPr>
            <p:cNvPr id="66" name="Freeform 66"/>
            <p:cNvSpPr/>
            <p:nvPr/>
          </p:nvSpPr>
          <p:spPr>
            <a:xfrm>
              <a:off x="0" y="0"/>
              <a:ext cx="9232392" cy="1646555"/>
            </a:xfrm>
            <a:custGeom>
              <a:avLst/>
              <a:gdLst/>
              <a:ahLst/>
              <a:cxnLst/>
              <a:rect l="l" t="t" r="r" b="b"/>
              <a:pathLst>
                <a:path w="9232392" h="1646555">
                  <a:moveTo>
                    <a:pt x="0" y="0"/>
                  </a:moveTo>
                  <a:lnTo>
                    <a:pt x="7398131" y="1270"/>
                  </a:lnTo>
                  <a:lnTo>
                    <a:pt x="9232392" y="1646555"/>
                  </a:lnTo>
                  <a:lnTo>
                    <a:pt x="0" y="1646555"/>
                  </a:lnTo>
                  <a:lnTo>
                    <a:pt x="0" y="0"/>
                  </a:lnTo>
                  <a:close/>
                </a:path>
              </a:pathLst>
            </a:custGeom>
            <a:solidFill>
              <a:srgbClr val="A41937"/>
            </a:solidFill>
            <a:ln w="12700">
              <a:solidFill>
                <a:srgbClr val="000000"/>
              </a:solidFill>
            </a:ln>
          </p:spPr>
        </p:sp>
      </p:grpSp>
      <p:sp>
        <p:nvSpPr>
          <p:cNvPr id="67" name="TextBox 67"/>
          <p:cNvSpPr txBox="1"/>
          <p:nvPr/>
        </p:nvSpPr>
        <p:spPr>
          <a:xfrm>
            <a:off x="306143" y="9183548"/>
            <a:ext cx="5139490" cy="966292"/>
          </a:xfrm>
          <a:prstGeom prst="rect">
            <a:avLst/>
          </a:prstGeom>
        </p:spPr>
        <p:txBody>
          <a:bodyPr lIns="0" tIns="0" rIns="0" bIns="0" rtlCol="0" anchor="t">
            <a:spAutoFit/>
          </a:bodyPr>
          <a:lstStyle/>
          <a:p>
            <a:pPr algn="l">
              <a:lnSpc>
                <a:spcPts val="3292"/>
              </a:lnSpc>
            </a:pPr>
            <a:r>
              <a:rPr lang="en-US" sz="2743">
                <a:solidFill>
                  <a:srgbClr val="FFFFFF"/>
                </a:solidFill>
                <a:latin typeface="Chau Philomene"/>
                <a:ea typeface="Chau Philomene"/>
                <a:cs typeface="Chau Philomene"/>
                <a:sym typeface="Chau Philomene"/>
              </a:rPr>
              <a:t>División de Técnica Aduanera</a:t>
            </a:r>
          </a:p>
          <a:p>
            <a:pPr algn="l">
              <a:lnSpc>
                <a:spcPts val="3292"/>
              </a:lnSpc>
            </a:pPr>
            <a:r>
              <a:rPr lang="en-US" sz="2743">
                <a:solidFill>
                  <a:srgbClr val="FFFFFF"/>
                </a:solidFill>
                <a:latin typeface="Chau Philomene"/>
                <a:ea typeface="Chau Philomene"/>
                <a:cs typeface="Chau Philomene"/>
                <a:sym typeface="Chau Philomene"/>
              </a:rPr>
              <a:t>Sección de Manifiestos</a:t>
            </a:r>
          </a:p>
        </p:txBody>
      </p:sp>
      <p:grpSp>
        <p:nvGrpSpPr>
          <p:cNvPr id="68" name="Group 68"/>
          <p:cNvGrpSpPr/>
          <p:nvPr/>
        </p:nvGrpSpPr>
        <p:grpSpPr>
          <a:xfrm>
            <a:off x="702440" y="559251"/>
            <a:ext cx="2173443" cy="674761"/>
            <a:chOff x="0" y="0"/>
            <a:chExt cx="2897924" cy="899681"/>
          </a:xfrm>
        </p:grpSpPr>
        <p:sp>
          <p:nvSpPr>
            <p:cNvPr id="69" name="Freeform 69"/>
            <p:cNvSpPr/>
            <p:nvPr/>
          </p:nvSpPr>
          <p:spPr>
            <a:xfrm>
              <a:off x="0" y="0"/>
              <a:ext cx="2897886" cy="899668"/>
            </a:xfrm>
            <a:custGeom>
              <a:avLst/>
              <a:gdLst/>
              <a:ahLst/>
              <a:cxnLst/>
              <a:rect l="l" t="t" r="r" b="b"/>
              <a:pathLst>
                <a:path w="2897886" h="899668">
                  <a:moveTo>
                    <a:pt x="0" y="0"/>
                  </a:moveTo>
                  <a:lnTo>
                    <a:pt x="2897886" y="0"/>
                  </a:lnTo>
                  <a:lnTo>
                    <a:pt x="2897886" y="899668"/>
                  </a:lnTo>
                  <a:lnTo>
                    <a:pt x="0" y="899668"/>
                  </a:lnTo>
                  <a:lnTo>
                    <a:pt x="0" y="0"/>
                  </a:lnTo>
                  <a:close/>
                </a:path>
              </a:pathLst>
            </a:custGeom>
            <a:blipFill>
              <a:blip r:embed="rId6"/>
              <a:stretch>
                <a:fillRect t="-183" r="-1" b="-184"/>
              </a:stretch>
            </a:blipFill>
          </p:spPr>
        </p:sp>
      </p:grpSp>
      <p:sp>
        <p:nvSpPr>
          <p:cNvPr id="70" name="TextBox 70"/>
          <p:cNvSpPr txBox="1"/>
          <p:nvPr/>
        </p:nvSpPr>
        <p:spPr>
          <a:xfrm>
            <a:off x="504473" y="2522220"/>
            <a:ext cx="8421910" cy="5433060"/>
          </a:xfrm>
          <a:prstGeom prst="rect">
            <a:avLst/>
          </a:prstGeom>
        </p:spPr>
        <p:txBody>
          <a:bodyPr lIns="0" tIns="0" rIns="0" bIns="0" rtlCol="0" anchor="t">
            <a:spAutoFit/>
          </a:bodyPr>
          <a:lstStyle/>
          <a:p>
            <a:pPr algn="l">
              <a:lnSpc>
                <a:spcPts val="5400"/>
              </a:lnSpc>
            </a:pPr>
            <a:r>
              <a:rPr lang="en-US" sz="5400" b="1">
                <a:solidFill>
                  <a:srgbClr val="305496"/>
                </a:solidFill>
                <a:latin typeface="Roboto Bold"/>
                <a:ea typeface="Roboto Bold"/>
                <a:cs typeface="Roboto Bold"/>
                <a:sym typeface="Roboto Bold"/>
              </a:rPr>
              <a:t>ENCUESTA DE SATISFACCIÓN DEL SERVICIO ADUANERO PRESTADO POR LA SECCIÓN DE MANIFIESTOS DE LA INTENDENCIA DE ADUANA DE TACNA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4"/>
          <p:cNvGrpSpPr/>
          <p:nvPr/>
        </p:nvGrpSpPr>
        <p:grpSpPr>
          <a:xfrm>
            <a:off x="-9496" y="1610"/>
            <a:ext cx="1789547" cy="1113206"/>
            <a:chOff x="0" y="0"/>
            <a:chExt cx="2386063" cy="1484274"/>
          </a:xfrm>
        </p:grpSpPr>
        <p:sp>
          <p:nvSpPr>
            <p:cNvPr id="25" name="Freeform 25"/>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grpSp>
        <p:nvGrpSpPr>
          <p:cNvPr id="27" name="Group 27"/>
          <p:cNvGrpSpPr/>
          <p:nvPr/>
        </p:nvGrpSpPr>
        <p:grpSpPr>
          <a:xfrm>
            <a:off x="0" y="9239250"/>
            <a:ext cx="18288000" cy="1066800"/>
            <a:chOff x="0" y="0"/>
            <a:chExt cx="24384000" cy="1422400"/>
          </a:xfrm>
        </p:grpSpPr>
        <p:sp>
          <p:nvSpPr>
            <p:cNvPr id="28" name="Freeform 28"/>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29" name="Freeform 29"/>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30" name="Group 30"/>
          <p:cNvGrpSpPr/>
          <p:nvPr/>
        </p:nvGrpSpPr>
        <p:grpSpPr>
          <a:xfrm>
            <a:off x="16174641" y="-32223"/>
            <a:ext cx="1101280" cy="207169"/>
            <a:chOff x="0" y="0"/>
            <a:chExt cx="1468374" cy="276225"/>
          </a:xfrm>
        </p:grpSpPr>
        <p:sp>
          <p:nvSpPr>
            <p:cNvPr id="31" name="Freeform 31"/>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32" name="Group 32"/>
          <p:cNvGrpSpPr/>
          <p:nvPr/>
        </p:nvGrpSpPr>
        <p:grpSpPr>
          <a:xfrm>
            <a:off x="2701709" y="9324975"/>
            <a:ext cx="2846489" cy="861965"/>
            <a:chOff x="0" y="0"/>
            <a:chExt cx="3795319" cy="1149286"/>
          </a:xfrm>
        </p:grpSpPr>
        <p:sp>
          <p:nvSpPr>
            <p:cNvPr id="33" name="Freeform 33"/>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34" name="Group 34"/>
          <p:cNvGrpSpPr/>
          <p:nvPr/>
        </p:nvGrpSpPr>
        <p:grpSpPr>
          <a:xfrm>
            <a:off x="413299" y="9472260"/>
            <a:ext cx="1982991" cy="567404"/>
            <a:chOff x="0" y="0"/>
            <a:chExt cx="2643988" cy="756539"/>
          </a:xfrm>
        </p:grpSpPr>
        <p:sp>
          <p:nvSpPr>
            <p:cNvPr id="35" name="Freeform 35"/>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36" name="TextBox 36"/>
          <p:cNvSpPr txBox="1"/>
          <p:nvPr/>
        </p:nvSpPr>
        <p:spPr>
          <a:xfrm>
            <a:off x="3379127" y="2096414"/>
            <a:ext cx="13662231" cy="2748915"/>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Objetivo: </a:t>
            </a:r>
            <a:r>
              <a:rPr lang="en-US" sz="3298">
                <a:solidFill>
                  <a:srgbClr val="3F62A2"/>
                </a:solidFill>
                <a:latin typeface="Roboto"/>
                <a:ea typeface="Roboto"/>
                <a:cs typeface="Roboto"/>
                <a:sym typeface="Roboto"/>
              </a:rPr>
              <a:t>Conocer y evaluar el grado de satisfacción de las empresas de transporte internacional respecto a la calidad de atención en los servicios de la Sección de Manifiestos brindados durante el año 2025, en la jurisdicción de la Intendencia de Aduana de Tacna, con el fin de identificar oportunidades de mejora en la prestación del servicio.</a:t>
            </a:r>
          </a:p>
        </p:txBody>
      </p:sp>
      <p:sp>
        <p:nvSpPr>
          <p:cNvPr id="37" name="TextBox 37"/>
          <p:cNvSpPr txBox="1"/>
          <p:nvPr/>
        </p:nvSpPr>
        <p:spPr>
          <a:xfrm>
            <a:off x="2321242" y="106966"/>
            <a:ext cx="49915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1.  Ficha Técnica</a:t>
            </a:r>
          </a:p>
        </p:txBody>
      </p:sp>
      <p:sp>
        <p:nvSpPr>
          <p:cNvPr id="38" name="TextBox 38"/>
          <p:cNvSpPr txBox="1"/>
          <p:nvPr/>
        </p:nvSpPr>
        <p:spPr>
          <a:xfrm>
            <a:off x="2561558" y="1302734"/>
            <a:ext cx="5949448"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1.1 Objetivos Específicos</a:t>
            </a:r>
          </a:p>
        </p:txBody>
      </p:sp>
      <p:sp>
        <p:nvSpPr>
          <p:cNvPr id="39" name="TextBox 39"/>
          <p:cNvSpPr txBox="1"/>
          <p:nvPr/>
        </p:nvSpPr>
        <p:spPr>
          <a:xfrm>
            <a:off x="3379127" y="5278107"/>
            <a:ext cx="13662231" cy="1663065"/>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Público Objetivo: </a:t>
            </a:r>
            <a:r>
              <a:rPr lang="en-US" sz="3298">
                <a:solidFill>
                  <a:srgbClr val="3F62A2"/>
                </a:solidFill>
                <a:latin typeface="Roboto"/>
                <a:ea typeface="Roboto"/>
                <a:cs typeface="Roboto"/>
                <a:sym typeface="Roboto"/>
              </a:rPr>
              <a:t>Empresas Importadoras y Empresas Exportadoras que han realizado operaciones en la jurisdicción de la Intendencia de Aduana de Tacna</a:t>
            </a:r>
          </a:p>
        </p:txBody>
      </p:sp>
      <p:sp>
        <p:nvSpPr>
          <p:cNvPr id="40" name="TextBox 40"/>
          <p:cNvSpPr txBox="1"/>
          <p:nvPr/>
        </p:nvSpPr>
        <p:spPr>
          <a:xfrm>
            <a:off x="3379127" y="7373941"/>
            <a:ext cx="13662231" cy="1120140"/>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Vigencia: </a:t>
            </a:r>
            <a:r>
              <a:rPr lang="en-US" sz="3298">
                <a:solidFill>
                  <a:srgbClr val="3F62A2"/>
                </a:solidFill>
                <a:latin typeface="Roboto"/>
                <a:ea typeface="Roboto"/>
                <a:cs typeface="Roboto"/>
                <a:sym typeface="Roboto"/>
              </a:rPr>
              <a:t>La encuesta se efectuó del 11 de agosto al 13 de agosto del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11" name="TextBox 11"/>
          <p:cNvSpPr txBox="1"/>
          <p:nvPr/>
        </p:nvSpPr>
        <p:spPr>
          <a:xfrm>
            <a:off x="3588734" y="1576902"/>
            <a:ext cx="13662231" cy="1663065"/>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Metodología: </a:t>
            </a:r>
            <a:r>
              <a:rPr lang="en-US" sz="3298">
                <a:solidFill>
                  <a:srgbClr val="3F62A2"/>
                </a:solidFill>
                <a:latin typeface="Roboto"/>
                <a:ea typeface="Roboto"/>
                <a:cs typeface="Roboto"/>
                <a:sym typeface="Roboto"/>
              </a:rPr>
              <a:t>El estudio es de tipo exploratorio, de tipo transversal con recolección extendida, aplicando una metodología cuantitativa con análisis descriptivo.</a:t>
            </a:r>
          </a:p>
        </p:txBody>
      </p:sp>
      <p:sp>
        <p:nvSpPr>
          <p:cNvPr id="12" name="TextBox 12"/>
          <p:cNvSpPr txBox="1"/>
          <p:nvPr/>
        </p:nvSpPr>
        <p:spPr>
          <a:xfrm>
            <a:off x="2299144" y="50997"/>
            <a:ext cx="49915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1.  Ficha Técnica</a:t>
            </a:r>
          </a:p>
        </p:txBody>
      </p:sp>
      <p:sp>
        <p:nvSpPr>
          <p:cNvPr id="13" name="TextBox 13"/>
          <p:cNvSpPr txBox="1"/>
          <p:nvPr/>
        </p:nvSpPr>
        <p:spPr>
          <a:xfrm>
            <a:off x="2556805" y="898112"/>
            <a:ext cx="5949448"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1.2 Metodología</a:t>
            </a:r>
          </a:p>
        </p:txBody>
      </p:sp>
      <p:sp>
        <p:nvSpPr>
          <p:cNvPr id="14" name="TextBox 14"/>
          <p:cNvSpPr txBox="1"/>
          <p:nvPr/>
        </p:nvSpPr>
        <p:spPr>
          <a:xfrm>
            <a:off x="3588734" y="3401282"/>
            <a:ext cx="13662231" cy="1663065"/>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Técnica: </a:t>
            </a:r>
            <a:r>
              <a:rPr lang="en-US" sz="3298">
                <a:solidFill>
                  <a:srgbClr val="3F62A2"/>
                </a:solidFill>
                <a:latin typeface="Roboto"/>
                <a:ea typeface="Roboto"/>
                <a:cs typeface="Roboto"/>
                <a:sym typeface="Roboto"/>
              </a:rPr>
              <a:t>Se le invitó a las empresas de transporte internacional a contestar dos encuestas mediante la comunidad de WhatsApp de Transportistas utilizando la plataforma MS Forms.</a:t>
            </a:r>
          </a:p>
        </p:txBody>
      </p:sp>
      <p:sp>
        <p:nvSpPr>
          <p:cNvPr id="15" name="TextBox 15"/>
          <p:cNvSpPr txBox="1"/>
          <p:nvPr/>
        </p:nvSpPr>
        <p:spPr>
          <a:xfrm>
            <a:off x="3588734" y="5225653"/>
            <a:ext cx="13662231" cy="1663065"/>
          </a:xfrm>
          <a:prstGeom prst="rect">
            <a:avLst/>
          </a:prstGeom>
        </p:spPr>
        <p:txBody>
          <a:bodyPr lIns="0" tIns="0" rIns="0" bIns="0" rtlCol="0" anchor="t">
            <a:spAutoFit/>
          </a:bodyPr>
          <a:lstStyle/>
          <a:p>
            <a:pPr algn="just">
              <a:lnSpc>
                <a:spcPts val="4288"/>
              </a:lnSpc>
            </a:pPr>
            <a:r>
              <a:rPr lang="en-US" sz="3298" b="1">
                <a:solidFill>
                  <a:srgbClr val="3F62A2"/>
                </a:solidFill>
                <a:latin typeface="Roboto Bold"/>
                <a:ea typeface="Roboto Bold"/>
                <a:cs typeface="Roboto Bold"/>
                <a:sym typeface="Roboto Bold"/>
              </a:rPr>
              <a:t>Instrumento: </a:t>
            </a:r>
            <a:r>
              <a:rPr lang="en-US" sz="3298">
                <a:solidFill>
                  <a:srgbClr val="3F62A2"/>
                </a:solidFill>
                <a:latin typeface="Roboto"/>
                <a:ea typeface="Roboto"/>
                <a:cs typeface="Roboto"/>
                <a:sym typeface="Roboto"/>
              </a:rPr>
              <a:t>Cuestionario estructurado de forma transversal, aprobado por Jefatura de la Sección de Manifiestos, considerándose la escala de Likert del 1 al 5:</a:t>
            </a:r>
          </a:p>
        </p:txBody>
      </p:sp>
      <p:grpSp>
        <p:nvGrpSpPr>
          <p:cNvPr id="41" name="Group 41"/>
          <p:cNvGrpSpPr/>
          <p:nvPr/>
        </p:nvGrpSpPr>
        <p:grpSpPr>
          <a:xfrm>
            <a:off x="7290654" y="6453426"/>
            <a:ext cx="6389284" cy="2204104"/>
            <a:chOff x="0" y="0"/>
            <a:chExt cx="8519046" cy="2938805"/>
          </a:xfrm>
        </p:grpSpPr>
        <p:sp>
          <p:nvSpPr>
            <p:cNvPr id="42" name="Freeform 42"/>
            <p:cNvSpPr/>
            <p:nvPr/>
          </p:nvSpPr>
          <p:spPr>
            <a:xfrm>
              <a:off x="0" y="0"/>
              <a:ext cx="8519033" cy="2938780"/>
            </a:xfrm>
            <a:custGeom>
              <a:avLst/>
              <a:gdLst/>
              <a:ahLst/>
              <a:cxnLst/>
              <a:rect l="l" t="t" r="r" b="b"/>
              <a:pathLst>
                <a:path w="8519033" h="2938780">
                  <a:moveTo>
                    <a:pt x="0" y="0"/>
                  </a:moveTo>
                  <a:lnTo>
                    <a:pt x="8519033" y="0"/>
                  </a:lnTo>
                  <a:lnTo>
                    <a:pt x="8519033" y="2938780"/>
                  </a:lnTo>
                  <a:lnTo>
                    <a:pt x="0" y="2938780"/>
                  </a:lnTo>
                  <a:lnTo>
                    <a:pt x="0" y="0"/>
                  </a:lnTo>
                  <a:close/>
                </a:path>
              </a:pathLst>
            </a:custGeom>
            <a:blipFill>
              <a:blip r:embed="rId7"/>
              <a:stretch>
                <a:fillRect t="-34549" b="-34549"/>
              </a:stretch>
            </a:blipFill>
          </p:spPr>
        </p:sp>
      </p:grpSp>
      <p:sp>
        <p:nvSpPr>
          <p:cNvPr id="45" name="TextBox 45"/>
          <p:cNvSpPr txBox="1"/>
          <p:nvPr/>
        </p:nvSpPr>
        <p:spPr>
          <a:xfrm>
            <a:off x="8376656" y="8427653"/>
            <a:ext cx="316344" cy="516893"/>
          </a:xfrm>
          <a:prstGeom prst="rect">
            <a:avLst/>
          </a:prstGeom>
        </p:spPr>
        <p:txBody>
          <a:bodyPr lIns="0" tIns="0" rIns="0" bIns="0" rtlCol="0" anchor="t">
            <a:spAutoFit/>
          </a:bodyPr>
          <a:lstStyle/>
          <a:p>
            <a:pPr algn="just">
              <a:lnSpc>
                <a:spcPts val="3639"/>
              </a:lnSpc>
            </a:pPr>
            <a:r>
              <a:rPr lang="en-US" sz="2799" b="1">
                <a:solidFill>
                  <a:srgbClr val="000000"/>
                </a:solidFill>
                <a:latin typeface="Roboto Bold"/>
                <a:ea typeface="Roboto Bold"/>
                <a:cs typeface="Roboto Bold"/>
                <a:sym typeface="Roboto Bold"/>
              </a:rPr>
              <a:t>1</a:t>
            </a:r>
          </a:p>
        </p:txBody>
      </p:sp>
      <p:sp>
        <p:nvSpPr>
          <p:cNvPr id="46" name="TextBox 46"/>
          <p:cNvSpPr txBox="1"/>
          <p:nvPr/>
        </p:nvSpPr>
        <p:spPr>
          <a:xfrm>
            <a:off x="9334595" y="8427653"/>
            <a:ext cx="316344" cy="516893"/>
          </a:xfrm>
          <a:prstGeom prst="rect">
            <a:avLst/>
          </a:prstGeom>
        </p:spPr>
        <p:txBody>
          <a:bodyPr lIns="0" tIns="0" rIns="0" bIns="0" rtlCol="0" anchor="t">
            <a:spAutoFit/>
          </a:bodyPr>
          <a:lstStyle/>
          <a:p>
            <a:pPr algn="just">
              <a:lnSpc>
                <a:spcPts val="3639"/>
              </a:lnSpc>
            </a:pPr>
            <a:r>
              <a:rPr lang="en-US" sz="2799" b="1">
                <a:solidFill>
                  <a:srgbClr val="000000"/>
                </a:solidFill>
                <a:latin typeface="Roboto Bold"/>
                <a:ea typeface="Roboto Bold"/>
                <a:cs typeface="Roboto Bold"/>
                <a:sym typeface="Roboto Bold"/>
              </a:rPr>
              <a:t>2</a:t>
            </a:r>
          </a:p>
        </p:txBody>
      </p:sp>
      <p:sp>
        <p:nvSpPr>
          <p:cNvPr id="47" name="TextBox 47"/>
          <p:cNvSpPr txBox="1"/>
          <p:nvPr/>
        </p:nvSpPr>
        <p:spPr>
          <a:xfrm>
            <a:off x="10327129" y="8427653"/>
            <a:ext cx="316344" cy="516893"/>
          </a:xfrm>
          <a:prstGeom prst="rect">
            <a:avLst/>
          </a:prstGeom>
        </p:spPr>
        <p:txBody>
          <a:bodyPr lIns="0" tIns="0" rIns="0" bIns="0" rtlCol="0" anchor="t">
            <a:spAutoFit/>
          </a:bodyPr>
          <a:lstStyle/>
          <a:p>
            <a:pPr algn="just">
              <a:lnSpc>
                <a:spcPts val="3639"/>
              </a:lnSpc>
            </a:pPr>
            <a:r>
              <a:rPr lang="en-US" sz="2799" b="1">
                <a:solidFill>
                  <a:srgbClr val="000000"/>
                </a:solidFill>
                <a:latin typeface="Roboto Bold"/>
                <a:ea typeface="Roboto Bold"/>
                <a:cs typeface="Roboto Bold"/>
                <a:sym typeface="Roboto Bold"/>
              </a:rPr>
              <a:t>3</a:t>
            </a:r>
          </a:p>
        </p:txBody>
      </p:sp>
      <p:sp>
        <p:nvSpPr>
          <p:cNvPr id="48" name="TextBox 48"/>
          <p:cNvSpPr txBox="1"/>
          <p:nvPr/>
        </p:nvSpPr>
        <p:spPr>
          <a:xfrm>
            <a:off x="11319748" y="8427653"/>
            <a:ext cx="316344" cy="516893"/>
          </a:xfrm>
          <a:prstGeom prst="rect">
            <a:avLst/>
          </a:prstGeom>
        </p:spPr>
        <p:txBody>
          <a:bodyPr lIns="0" tIns="0" rIns="0" bIns="0" rtlCol="0" anchor="t">
            <a:spAutoFit/>
          </a:bodyPr>
          <a:lstStyle/>
          <a:p>
            <a:pPr algn="just">
              <a:lnSpc>
                <a:spcPts val="3639"/>
              </a:lnSpc>
            </a:pPr>
            <a:r>
              <a:rPr lang="en-US" sz="2799" b="1">
                <a:solidFill>
                  <a:srgbClr val="000000"/>
                </a:solidFill>
                <a:latin typeface="Roboto Bold"/>
                <a:ea typeface="Roboto Bold"/>
                <a:cs typeface="Roboto Bold"/>
                <a:sym typeface="Roboto Bold"/>
              </a:rPr>
              <a:t>4</a:t>
            </a:r>
          </a:p>
        </p:txBody>
      </p:sp>
      <p:sp>
        <p:nvSpPr>
          <p:cNvPr id="49" name="TextBox 49"/>
          <p:cNvSpPr txBox="1"/>
          <p:nvPr/>
        </p:nvSpPr>
        <p:spPr>
          <a:xfrm>
            <a:off x="12350467" y="8427653"/>
            <a:ext cx="316344" cy="516893"/>
          </a:xfrm>
          <a:prstGeom prst="rect">
            <a:avLst/>
          </a:prstGeom>
        </p:spPr>
        <p:txBody>
          <a:bodyPr lIns="0" tIns="0" rIns="0" bIns="0" rtlCol="0" anchor="t">
            <a:spAutoFit/>
          </a:bodyPr>
          <a:lstStyle/>
          <a:p>
            <a:pPr algn="just">
              <a:lnSpc>
                <a:spcPts val="3639"/>
              </a:lnSpc>
            </a:pPr>
            <a:r>
              <a:rPr lang="en-US" sz="2799" b="1">
                <a:solidFill>
                  <a:srgbClr val="000000"/>
                </a:solidFill>
                <a:latin typeface="Roboto Bold"/>
                <a:ea typeface="Roboto Bold"/>
                <a:cs typeface="Roboto Bold"/>
                <a:sym typeface="Roboto Bold"/>
              </a:rPr>
              <a:t>5</a:t>
            </a:r>
          </a:p>
        </p:txBody>
      </p:sp>
      <p:grpSp>
        <p:nvGrpSpPr>
          <p:cNvPr id="50" name="Group 24">
            <a:extLst>
              <a:ext uri="{FF2B5EF4-FFF2-40B4-BE49-F238E27FC236}">
                <a16:creationId xmlns:a16="http://schemas.microsoft.com/office/drawing/2014/main" id="{212B56BF-188B-4806-8328-A318DC7E31C9}"/>
              </a:ext>
            </a:extLst>
          </p:cNvPr>
          <p:cNvGrpSpPr/>
          <p:nvPr/>
        </p:nvGrpSpPr>
        <p:grpSpPr>
          <a:xfrm>
            <a:off x="-9496" y="-38100"/>
            <a:ext cx="1789547" cy="1113206"/>
            <a:chOff x="0" y="0"/>
            <a:chExt cx="2386063" cy="1484274"/>
          </a:xfrm>
        </p:grpSpPr>
        <p:sp>
          <p:nvSpPr>
            <p:cNvPr id="51" name="Freeform 25">
              <a:extLst>
                <a:ext uri="{FF2B5EF4-FFF2-40B4-BE49-F238E27FC236}">
                  <a16:creationId xmlns:a16="http://schemas.microsoft.com/office/drawing/2014/main" id="{98FE17D6-1817-4198-B050-81D400BE2A4F}"/>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11" name="TextBox 11"/>
          <p:cNvSpPr txBox="1"/>
          <p:nvPr/>
        </p:nvSpPr>
        <p:spPr>
          <a:xfrm>
            <a:off x="3385261" y="1760353"/>
            <a:ext cx="13966908" cy="1619964"/>
          </a:xfrm>
          <a:prstGeom prst="rect">
            <a:avLst/>
          </a:prstGeom>
        </p:spPr>
        <p:txBody>
          <a:bodyPr lIns="0" tIns="0" rIns="0" bIns="0" rtlCol="0" anchor="t">
            <a:spAutoFit/>
          </a:bodyPr>
          <a:lstStyle/>
          <a:p>
            <a:pPr algn="just">
              <a:lnSpc>
                <a:spcPts val="4121"/>
              </a:lnSpc>
            </a:pPr>
            <a:r>
              <a:rPr lang="en-US" sz="3170" b="1">
                <a:solidFill>
                  <a:srgbClr val="3F62A2"/>
                </a:solidFill>
                <a:latin typeface="Roboto Bold"/>
                <a:ea typeface="Roboto Bold"/>
                <a:cs typeface="Roboto Bold"/>
                <a:sym typeface="Roboto Bold"/>
              </a:rPr>
              <a:t>Metodología: </a:t>
            </a:r>
            <a:r>
              <a:rPr lang="en-US" sz="3170">
                <a:solidFill>
                  <a:srgbClr val="3F62A2"/>
                </a:solidFill>
                <a:latin typeface="Roboto"/>
                <a:ea typeface="Roboto"/>
                <a:cs typeface="Roboto"/>
                <a:sym typeface="Roboto"/>
              </a:rPr>
              <a:t>Compuesto por dos (02) formularios web, cada uno con ocho preguntas cerradas y dos de respuesta abierta, considerando las dimensiones de: disponibilidad, efectividad y gestión del conocimiento.</a:t>
            </a:r>
          </a:p>
        </p:txBody>
      </p:sp>
      <p:sp>
        <p:nvSpPr>
          <p:cNvPr id="12" name="TextBox 12"/>
          <p:cNvSpPr txBox="1"/>
          <p:nvPr/>
        </p:nvSpPr>
        <p:spPr>
          <a:xfrm>
            <a:off x="2299144" y="50997"/>
            <a:ext cx="49915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1.  Ficha Técnica</a:t>
            </a:r>
          </a:p>
        </p:txBody>
      </p:sp>
      <p:sp>
        <p:nvSpPr>
          <p:cNvPr id="13" name="TextBox 13"/>
          <p:cNvSpPr txBox="1"/>
          <p:nvPr/>
        </p:nvSpPr>
        <p:spPr>
          <a:xfrm>
            <a:off x="2556805" y="898112"/>
            <a:ext cx="5949448"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1.2 Metodología</a:t>
            </a:r>
          </a:p>
        </p:txBody>
      </p:sp>
      <p:sp>
        <p:nvSpPr>
          <p:cNvPr id="39" name="TextBox 39"/>
          <p:cNvSpPr txBox="1"/>
          <p:nvPr/>
        </p:nvSpPr>
        <p:spPr>
          <a:xfrm>
            <a:off x="2556805" y="3543043"/>
            <a:ext cx="8670874"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1.3 Descripción del estudio de medición</a:t>
            </a:r>
          </a:p>
        </p:txBody>
      </p:sp>
      <p:graphicFrame>
        <p:nvGraphicFramePr>
          <p:cNvPr id="40" name="Table 40"/>
          <p:cNvGraphicFramePr>
            <a:graphicFrameLocks noGrp="1"/>
          </p:cNvGraphicFramePr>
          <p:nvPr/>
        </p:nvGraphicFramePr>
        <p:xfrm>
          <a:off x="3385265" y="5373406"/>
          <a:ext cx="13957300" cy="3238500"/>
        </p:xfrm>
        <a:graphic>
          <a:graphicData uri="http://schemas.openxmlformats.org/drawingml/2006/table">
            <a:tbl>
              <a:tblPr/>
              <a:tblGrid>
                <a:gridCol w="4913820">
                  <a:extLst>
                    <a:ext uri="{9D8B030D-6E8A-4147-A177-3AD203B41FA5}">
                      <a16:colId xmlns:a16="http://schemas.microsoft.com/office/drawing/2014/main" val="20000"/>
                    </a:ext>
                  </a:extLst>
                </a:gridCol>
                <a:gridCol w="2789213">
                  <a:extLst>
                    <a:ext uri="{9D8B030D-6E8A-4147-A177-3AD203B41FA5}">
                      <a16:colId xmlns:a16="http://schemas.microsoft.com/office/drawing/2014/main" val="20001"/>
                    </a:ext>
                  </a:extLst>
                </a:gridCol>
                <a:gridCol w="6254267">
                  <a:extLst>
                    <a:ext uri="{9D8B030D-6E8A-4147-A177-3AD203B41FA5}">
                      <a16:colId xmlns:a16="http://schemas.microsoft.com/office/drawing/2014/main" val="20002"/>
                    </a:ext>
                  </a:extLst>
                </a:gridCol>
              </a:tblGrid>
              <a:tr h="1079500">
                <a:tc>
                  <a:txBody>
                    <a:bodyPr/>
                    <a:lstStyle/>
                    <a:p>
                      <a:pPr algn="ctr">
                        <a:lnSpc>
                          <a:spcPts val="2819"/>
                        </a:lnSpc>
                        <a:defRPr/>
                      </a:pPr>
                      <a:r>
                        <a:rPr lang="en-US" sz="2349" b="1">
                          <a:solidFill>
                            <a:srgbClr val="FFFFFF"/>
                          </a:solidFill>
                          <a:latin typeface="Arial Bold"/>
                          <a:ea typeface="Arial Bold"/>
                          <a:cs typeface="Arial Bold"/>
                          <a:sym typeface="Arial Bold"/>
                        </a:rPr>
                        <a:t>Macroproceso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819"/>
                        </a:lnSpc>
                        <a:defRPr/>
                      </a:pPr>
                      <a:r>
                        <a:rPr lang="en-US" sz="2349" b="1">
                          <a:solidFill>
                            <a:srgbClr val="FFFFFF"/>
                          </a:solidFill>
                          <a:latin typeface="Arial Bold"/>
                          <a:ea typeface="Arial Bold"/>
                          <a:cs typeface="Arial Bold"/>
                          <a:sym typeface="Arial Bold"/>
                        </a:rPr>
                        <a:t>Número de 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819"/>
                        </a:lnSpc>
                        <a:defRPr/>
                      </a:pPr>
                      <a:r>
                        <a:rPr lang="en-US" sz="2349" b="1">
                          <a:solidFill>
                            <a:srgbClr val="FFFFFF"/>
                          </a:solidFill>
                          <a:latin typeface="Arial Bold"/>
                          <a:ea typeface="Arial Bold"/>
                          <a:cs typeface="Arial Bold"/>
                          <a:sym typeface="Arial Bold"/>
                        </a:rPr>
                        <a:t>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0"/>
                  </a:ext>
                </a:extLst>
              </a:tr>
              <a:tr h="1079500">
                <a:tc>
                  <a:txBody>
                    <a:bodyPr/>
                    <a:lstStyle/>
                    <a:p>
                      <a:pPr algn="l">
                        <a:lnSpc>
                          <a:spcPts val="2459"/>
                        </a:lnSpc>
                        <a:defRPr/>
                      </a:pPr>
                      <a:r>
                        <a:rPr lang="en-US" sz="2049">
                          <a:solidFill>
                            <a:srgbClr val="032044"/>
                          </a:solidFill>
                          <a:latin typeface="Arial"/>
                          <a:ea typeface="Arial"/>
                          <a:cs typeface="Arial"/>
                          <a:sym typeface="Arial"/>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NA-03.1 CONTROL DE MANIFIESTO DE INGRESO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1"/>
                  </a:ext>
                </a:extLst>
              </a:tr>
              <a:tr h="1079500">
                <a:tc>
                  <a:txBody>
                    <a:bodyPr/>
                    <a:lstStyle/>
                    <a:p>
                      <a:pPr algn="just">
                        <a:lnSpc>
                          <a:spcPts val="2459"/>
                        </a:lnSpc>
                        <a:defRPr/>
                      </a:pPr>
                      <a:r>
                        <a:rPr lang="en-US" sz="2049">
                          <a:solidFill>
                            <a:srgbClr val="032044"/>
                          </a:solidFill>
                          <a:latin typeface="Arial"/>
                          <a:ea typeface="Arial"/>
                          <a:cs typeface="Arial"/>
                          <a:sym typeface="Arial"/>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NA-04.4 CONTROL DE MANIFIESTO DE SALIDA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1" name="TextBox 41"/>
          <p:cNvSpPr txBox="1"/>
          <p:nvPr/>
        </p:nvSpPr>
        <p:spPr>
          <a:xfrm>
            <a:off x="3385261" y="4172455"/>
            <a:ext cx="13966908" cy="881748"/>
          </a:xfrm>
          <a:prstGeom prst="rect">
            <a:avLst/>
          </a:prstGeom>
        </p:spPr>
        <p:txBody>
          <a:bodyPr lIns="0" tIns="0" rIns="0" bIns="0" rtlCol="0" anchor="t">
            <a:spAutoFit/>
          </a:bodyPr>
          <a:lstStyle/>
          <a:p>
            <a:pPr algn="just">
              <a:lnSpc>
                <a:spcPts val="3341"/>
              </a:lnSpc>
            </a:pPr>
            <a:r>
              <a:rPr lang="en-US" sz="2570">
                <a:solidFill>
                  <a:srgbClr val="3F62A2"/>
                </a:solidFill>
                <a:latin typeface="Roboto"/>
                <a:ea typeface="Roboto"/>
                <a:cs typeface="Roboto"/>
                <a:sym typeface="Roboto"/>
              </a:rPr>
              <a:t>Las encuestas para los procesos que brinda la Sección de Manifiestos de la Intendencia de Aduana de Tacana se realizaron considerando lo señalado en el cuadro siguiente</a:t>
            </a:r>
          </a:p>
        </p:txBody>
      </p:sp>
      <p:grpSp>
        <p:nvGrpSpPr>
          <p:cNvPr id="42" name="Group 24">
            <a:extLst>
              <a:ext uri="{FF2B5EF4-FFF2-40B4-BE49-F238E27FC236}">
                <a16:creationId xmlns:a16="http://schemas.microsoft.com/office/drawing/2014/main" id="{3DBE8629-F54B-47DC-BDA3-048B681B538C}"/>
              </a:ext>
            </a:extLst>
          </p:cNvPr>
          <p:cNvGrpSpPr/>
          <p:nvPr/>
        </p:nvGrpSpPr>
        <p:grpSpPr>
          <a:xfrm>
            <a:off x="-9496" y="1610"/>
            <a:ext cx="1789547" cy="1113206"/>
            <a:chOff x="0" y="0"/>
            <a:chExt cx="2386063" cy="1484274"/>
          </a:xfrm>
        </p:grpSpPr>
        <p:sp>
          <p:nvSpPr>
            <p:cNvPr id="43" name="Freeform 25">
              <a:extLst>
                <a:ext uri="{FF2B5EF4-FFF2-40B4-BE49-F238E27FC236}">
                  <a16:creationId xmlns:a16="http://schemas.microsoft.com/office/drawing/2014/main" id="{D1E71349-A6CB-43D3-AA5F-43459198C139}"/>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11" name="TextBox 11"/>
          <p:cNvSpPr txBox="1"/>
          <p:nvPr/>
        </p:nvSpPr>
        <p:spPr>
          <a:xfrm>
            <a:off x="3216878" y="1720491"/>
            <a:ext cx="13662231" cy="1431293"/>
          </a:xfrm>
          <a:prstGeom prst="rect">
            <a:avLst/>
          </a:prstGeom>
        </p:spPr>
        <p:txBody>
          <a:bodyPr lIns="0" tIns="0" rIns="0" bIns="0" rtlCol="0" anchor="t">
            <a:spAutoFit/>
          </a:bodyPr>
          <a:lstStyle/>
          <a:p>
            <a:pPr algn="just">
              <a:lnSpc>
                <a:spcPts val="3639"/>
              </a:lnSpc>
            </a:pPr>
            <a:r>
              <a:rPr lang="en-US" sz="2799">
                <a:solidFill>
                  <a:srgbClr val="3F62A2"/>
                </a:solidFill>
                <a:latin typeface="Roboto"/>
                <a:ea typeface="Roboto"/>
                <a:cs typeface="Roboto"/>
                <a:sym typeface="Roboto"/>
              </a:rPr>
              <a:t>Los aspectos considerados en el instrumento de recolección de datos fueron definidos en función de la naturaleza particular de cada servicio involucrado en el estudio.</a:t>
            </a:r>
          </a:p>
        </p:txBody>
      </p:sp>
      <p:sp>
        <p:nvSpPr>
          <p:cNvPr id="12" name="TextBox 12"/>
          <p:cNvSpPr txBox="1"/>
          <p:nvPr/>
        </p:nvSpPr>
        <p:spPr>
          <a:xfrm>
            <a:off x="2299144" y="50997"/>
            <a:ext cx="49915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1.  Ficha Técnica</a:t>
            </a:r>
          </a:p>
        </p:txBody>
      </p:sp>
      <p:sp>
        <p:nvSpPr>
          <p:cNvPr id="13" name="TextBox 13"/>
          <p:cNvSpPr txBox="1"/>
          <p:nvPr/>
        </p:nvSpPr>
        <p:spPr>
          <a:xfrm>
            <a:off x="2556805" y="898112"/>
            <a:ext cx="10543222"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1.3 Descripción del estudio de medición</a:t>
            </a:r>
          </a:p>
        </p:txBody>
      </p:sp>
      <p:grpSp>
        <p:nvGrpSpPr>
          <p:cNvPr id="39" name="Group 39"/>
          <p:cNvGrpSpPr/>
          <p:nvPr/>
        </p:nvGrpSpPr>
        <p:grpSpPr>
          <a:xfrm>
            <a:off x="3216878" y="3508962"/>
            <a:ext cx="13662231" cy="1175414"/>
            <a:chOff x="0" y="0"/>
            <a:chExt cx="18216308" cy="1567218"/>
          </a:xfrm>
        </p:grpSpPr>
        <p:sp>
          <p:nvSpPr>
            <p:cNvPr id="40" name="Freeform 40"/>
            <p:cNvSpPr/>
            <p:nvPr/>
          </p:nvSpPr>
          <p:spPr>
            <a:xfrm>
              <a:off x="0" y="0"/>
              <a:ext cx="18216245" cy="1567180"/>
            </a:xfrm>
            <a:custGeom>
              <a:avLst/>
              <a:gdLst/>
              <a:ahLst/>
              <a:cxnLst/>
              <a:rect l="l" t="t" r="r" b="b"/>
              <a:pathLst>
                <a:path w="18216245" h="1567180">
                  <a:moveTo>
                    <a:pt x="146304" y="0"/>
                  </a:moveTo>
                  <a:lnTo>
                    <a:pt x="18069940" y="0"/>
                  </a:lnTo>
                  <a:cubicBezTo>
                    <a:pt x="18150712" y="0"/>
                    <a:pt x="18216245" y="65532"/>
                    <a:pt x="18216245" y="146304"/>
                  </a:cubicBezTo>
                  <a:lnTo>
                    <a:pt x="18216245" y="1420876"/>
                  </a:lnTo>
                  <a:cubicBezTo>
                    <a:pt x="18216245" y="1501648"/>
                    <a:pt x="18150712" y="1567180"/>
                    <a:pt x="18069940" y="1567180"/>
                  </a:cubicBezTo>
                  <a:lnTo>
                    <a:pt x="146304" y="1567180"/>
                  </a:lnTo>
                  <a:cubicBezTo>
                    <a:pt x="65532" y="1567180"/>
                    <a:pt x="0" y="1501775"/>
                    <a:pt x="0" y="1420876"/>
                  </a:cubicBezTo>
                  <a:lnTo>
                    <a:pt x="0" y="146304"/>
                  </a:lnTo>
                  <a:cubicBezTo>
                    <a:pt x="0" y="65532"/>
                    <a:pt x="65532" y="0"/>
                    <a:pt x="146304" y="0"/>
                  </a:cubicBezTo>
                  <a:close/>
                </a:path>
              </a:pathLst>
            </a:custGeom>
            <a:solidFill>
              <a:srgbClr val="A41937"/>
            </a:solidFill>
            <a:ln w="12700">
              <a:solidFill>
                <a:srgbClr val="000000"/>
              </a:solidFill>
            </a:ln>
          </p:spPr>
        </p:sp>
      </p:grpSp>
      <p:grpSp>
        <p:nvGrpSpPr>
          <p:cNvPr id="41" name="Group 41"/>
          <p:cNvGrpSpPr/>
          <p:nvPr/>
        </p:nvGrpSpPr>
        <p:grpSpPr>
          <a:xfrm>
            <a:off x="3216878" y="3328140"/>
            <a:ext cx="13662231" cy="1356246"/>
            <a:chOff x="0" y="0"/>
            <a:chExt cx="18216308" cy="1808328"/>
          </a:xfrm>
        </p:grpSpPr>
        <p:sp>
          <p:nvSpPr>
            <p:cNvPr id="42" name="Freeform 42"/>
            <p:cNvSpPr/>
            <p:nvPr/>
          </p:nvSpPr>
          <p:spPr>
            <a:xfrm>
              <a:off x="0" y="0"/>
              <a:ext cx="18216307" cy="1808322"/>
            </a:xfrm>
            <a:custGeom>
              <a:avLst/>
              <a:gdLst/>
              <a:ahLst/>
              <a:cxnLst/>
              <a:rect l="l" t="t" r="r" b="b"/>
              <a:pathLst>
                <a:path w="18216307" h="1808322">
                  <a:moveTo>
                    <a:pt x="0" y="0"/>
                  </a:moveTo>
                  <a:lnTo>
                    <a:pt x="18216307" y="0"/>
                  </a:lnTo>
                  <a:lnTo>
                    <a:pt x="18216307" y="1808322"/>
                  </a:lnTo>
                  <a:lnTo>
                    <a:pt x="0" y="1808322"/>
                  </a:lnTo>
                  <a:close/>
                </a:path>
              </a:pathLst>
            </a:custGeom>
            <a:solidFill>
              <a:srgbClr val="000000">
                <a:alpha val="0"/>
              </a:srgbClr>
            </a:solidFill>
            <a:ln w="12700">
              <a:noFill/>
            </a:ln>
          </p:spPr>
        </p:sp>
        <p:sp>
          <p:nvSpPr>
            <p:cNvPr id="43" name="TextBox 43"/>
            <p:cNvSpPr txBox="1"/>
            <p:nvPr/>
          </p:nvSpPr>
          <p:spPr>
            <a:xfrm>
              <a:off x="0" y="-47625"/>
              <a:ext cx="18216308" cy="1855953"/>
            </a:xfrm>
            <a:prstGeom prst="rect">
              <a:avLst/>
            </a:prstGeom>
            <a:ln>
              <a:noFill/>
            </a:ln>
          </p:spPr>
          <p:txBody>
            <a:bodyPr lIns="0" tIns="0" rIns="0" bIns="0" rtlCol="0" anchor="ctr"/>
            <a:lstStyle/>
            <a:p>
              <a:pPr algn="ctr">
                <a:lnSpc>
                  <a:spcPts val="4036"/>
                </a:lnSpc>
              </a:pPr>
              <a:r>
                <a:rPr lang="en-US" sz="3104" b="1">
                  <a:solidFill>
                    <a:srgbClr val="B8D8FF"/>
                  </a:solidFill>
                  <a:latin typeface="Roboto Bold"/>
                  <a:ea typeface="Roboto Bold"/>
                  <a:cs typeface="Roboto Bold"/>
                  <a:sym typeface="Roboto Bold"/>
                </a:rPr>
                <a:t>Disponibilidad:</a:t>
              </a:r>
              <a:r>
                <a:rPr lang="en-US" sz="3104" b="1">
                  <a:solidFill>
                    <a:srgbClr val="FFFFFF"/>
                  </a:solidFill>
                  <a:latin typeface="Roboto Bold"/>
                  <a:ea typeface="Roboto Bold"/>
                  <a:cs typeface="Roboto Bold"/>
                  <a:sym typeface="Roboto Bold"/>
                </a:rPr>
                <a:t> </a:t>
              </a:r>
              <a:r>
                <a:rPr lang="en-US" sz="3104">
                  <a:solidFill>
                    <a:srgbClr val="FFFFFF"/>
                  </a:solidFill>
                  <a:latin typeface="Roboto"/>
                  <a:ea typeface="Roboto"/>
                  <a:cs typeface="Roboto"/>
                  <a:sym typeface="Roboto"/>
                </a:rPr>
                <a:t>Ingreso rápido de llamada, disponibilidad del servicio, disponibilidad de los canales de atención</a:t>
              </a:r>
            </a:p>
          </p:txBody>
        </p:sp>
      </p:grpSp>
      <p:grpSp>
        <p:nvGrpSpPr>
          <p:cNvPr id="44" name="Group 44"/>
          <p:cNvGrpSpPr/>
          <p:nvPr/>
        </p:nvGrpSpPr>
        <p:grpSpPr>
          <a:xfrm>
            <a:off x="3216878" y="5143500"/>
            <a:ext cx="13662231" cy="1175414"/>
            <a:chOff x="0" y="0"/>
            <a:chExt cx="18216308" cy="1567218"/>
          </a:xfrm>
        </p:grpSpPr>
        <p:sp>
          <p:nvSpPr>
            <p:cNvPr id="45" name="Freeform 45"/>
            <p:cNvSpPr/>
            <p:nvPr/>
          </p:nvSpPr>
          <p:spPr>
            <a:xfrm>
              <a:off x="0" y="0"/>
              <a:ext cx="18216245" cy="1567180"/>
            </a:xfrm>
            <a:custGeom>
              <a:avLst/>
              <a:gdLst/>
              <a:ahLst/>
              <a:cxnLst/>
              <a:rect l="l" t="t" r="r" b="b"/>
              <a:pathLst>
                <a:path w="18216245" h="1567180">
                  <a:moveTo>
                    <a:pt x="146304" y="0"/>
                  </a:moveTo>
                  <a:lnTo>
                    <a:pt x="18069940" y="0"/>
                  </a:lnTo>
                  <a:cubicBezTo>
                    <a:pt x="18150712" y="0"/>
                    <a:pt x="18216245" y="65532"/>
                    <a:pt x="18216245" y="146304"/>
                  </a:cubicBezTo>
                  <a:lnTo>
                    <a:pt x="18216245" y="1420876"/>
                  </a:lnTo>
                  <a:cubicBezTo>
                    <a:pt x="18216245" y="1501648"/>
                    <a:pt x="18150712" y="1567180"/>
                    <a:pt x="18069940" y="1567180"/>
                  </a:cubicBezTo>
                  <a:lnTo>
                    <a:pt x="146304" y="1567180"/>
                  </a:lnTo>
                  <a:cubicBezTo>
                    <a:pt x="65532" y="1567180"/>
                    <a:pt x="0" y="1501775"/>
                    <a:pt x="0" y="1420876"/>
                  </a:cubicBezTo>
                  <a:lnTo>
                    <a:pt x="0" y="146304"/>
                  </a:lnTo>
                  <a:cubicBezTo>
                    <a:pt x="0" y="65532"/>
                    <a:pt x="65532" y="0"/>
                    <a:pt x="146304" y="0"/>
                  </a:cubicBezTo>
                  <a:close/>
                </a:path>
              </a:pathLst>
            </a:custGeom>
            <a:solidFill>
              <a:srgbClr val="A41937"/>
            </a:solidFill>
            <a:ln w="12700">
              <a:solidFill>
                <a:srgbClr val="000000"/>
              </a:solidFill>
            </a:ln>
          </p:spPr>
        </p:sp>
      </p:grpSp>
      <p:grpSp>
        <p:nvGrpSpPr>
          <p:cNvPr id="46" name="Group 46"/>
          <p:cNvGrpSpPr/>
          <p:nvPr/>
        </p:nvGrpSpPr>
        <p:grpSpPr>
          <a:xfrm>
            <a:off x="3216878" y="4962677"/>
            <a:ext cx="13662231" cy="1356246"/>
            <a:chOff x="0" y="0"/>
            <a:chExt cx="18216308" cy="1808328"/>
          </a:xfrm>
        </p:grpSpPr>
        <p:sp>
          <p:nvSpPr>
            <p:cNvPr id="47" name="Freeform 47"/>
            <p:cNvSpPr/>
            <p:nvPr/>
          </p:nvSpPr>
          <p:spPr>
            <a:xfrm>
              <a:off x="0" y="0"/>
              <a:ext cx="18216307" cy="1808322"/>
            </a:xfrm>
            <a:custGeom>
              <a:avLst/>
              <a:gdLst/>
              <a:ahLst/>
              <a:cxnLst/>
              <a:rect l="l" t="t" r="r" b="b"/>
              <a:pathLst>
                <a:path w="18216307" h="1808322">
                  <a:moveTo>
                    <a:pt x="0" y="0"/>
                  </a:moveTo>
                  <a:lnTo>
                    <a:pt x="18216307" y="0"/>
                  </a:lnTo>
                  <a:lnTo>
                    <a:pt x="18216307" y="1808322"/>
                  </a:lnTo>
                  <a:lnTo>
                    <a:pt x="0" y="1808322"/>
                  </a:lnTo>
                  <a:close/>
                </a:path>
              </a:pathLst>
            </a:custGeom>
            <a:solidFill>
              <a:srgbClr val="000000">
                <a:alpha val="0"/>
              </a:srgbClr>
            </a:solidFill>
            <a:ln w="12700">
              <a:noFill/>
            </a:ln>
          </p:spPr>
        </p:sp>
        <p:sp>
          <p:nvSpPr>
            <p:cNvPr id="48" name="TextBox 48"/>
            <p:cNvSpPr txBox="1"/>
            <p:nvPr/>
          </p:nvSpPr>
          <p:spPr>
            <a:xfrm>
              <a:off x="0" y="-47625"/>
              <a:ext cx="18216308" cy="1855953"/>
            </a:xfrm>
            <a:prstGeom prst="rect">
              <a:avLst/>
            </a:prstGeom>
            <a:ln>
              <a:noFill/>
            </a:ln>
          </p:spPr>
          <p:txBody>
            <a:bodyPr lIns="0" tIns="0" rIns="0" bIns="0" rtlCol="0" anchor="ctr"/>
            <a:lstStyle/>
            <a:p>
              <a:pPr algn="ctr">
                <a:lnSpc>
                  <a:spcPts val="4036"/>
                </a:lnSpc>
              </a:pPr>
              <a:r>
                <a:rPr lang="en-US" sz="3104" b="1" dirty="0" err="1">
                  <a:solidFill>
                    <a:srgbClr val="B8D8FF"/>
                  </a:solidFill>
                  <a:latin typeface="Roboto Bold"/>
                  <a:ea typeface="Roboto Bold"/>
                  <a:cs typeface="Roboto Bold"/>
                  <a:sym typeface="Roboto Bold"/>
                </a:rPr>
                <a:t>Efectividad</a:t>
              </a:r>
              <a:r>
                <a:rPr lang="en-US" sz="3104" b="1" dirty="0">
                  <a:solidFill>
                    <a:srgbClr val="B8D8FF"/>
                  </a:solidFill>
                  <a:latin typeface="Roboto Bold"/>
                  <a:ea typeface="Roboto Bold"/>
                  <a:cs typeface="Roboto Bold"/>
                  <a:sym typeface="Roboto Bold"/>
                </a:rPr>
                <a:t>:</a:t>
              </a:r>
              <a:r>
                <a:rPr lang="en-US" sz="3104" b="1" dirty="0">
                  <a:solidFill>
                    <a:srgbClr val="FFFFFF"/>
                  </a:solidFill>
                  <a:latin typeface="Roboto Bold"/>
                  <a:ea typeface="Roboto Bold"/>
                  <a:cs typeface="Roboto Bold"/>
                  <a:sym typeface="Roboto Bold"/>
                </a:rPr>
                <a:t> </a:t>
              </a:r>
              <a:r>
                <a:rPr lang="en-US" sz="3104" dirty="0" err="1">
                  <a:solidFill>
                    <a:srgbClr val="FFFFFF"/>
                  </a:solidFill>
                  <a:latin typeface="Roboto"/>
                  <a:ea typeface="Roboto"/>
                  <a:cs typeface="Roboto"/>
                  <a:sym typeface="Roboto"/>
                </a:rPr>
                <a:t>Flexibilidad</a:t>
              </a:r>
              <a:r>
                <a:rPr lang="en-US" sz="3104" dirty="0">
                  <a:solidFill>
                    <a:srgbClr val="FFFFFF"/>
                  </a:solidFill>
                  <a:latin typeface="Roboto"/>
                  <a:ea typeface="Roboto"/>
                  <a:cs typeface="Roboto"/>
                  <a:sym typeface="Roboto"/>
                </a:rPr>
                <a:t>, </a:t>
              </a:r>
              <a:r>
                <a:rPr lang="en-US" sz="3104" dirty="0" err="1">
                  <a:solidFill>
                    <a:srgbClr val="FFFFFF"/>
                  </a:solidFill>
                  <a:latin typeface="Roboto"/>
                  <a:ea typeface="Roboto"/>
                  <a:cs typeface="Roboto"/>
                  <a:sym typeface="Roboto"/>
                </a:rPr>
                <a:t>resolución</a:t>
              </a:r>
              <a:r>
                <a:rPr lang="en-US" sz="3104" dirty="0">
                  <a:solidFill>
                    <a:srgbClr val="FFFFFF"/>
                  </a:solidFill>
                  <a:latin typeface="Roboto"/>
                  <a:ea typeface="Roboto"/>
                  <a:cs typeface="Roboto"/>
                  <a:sym typeface="Roboto"/>
                </a:rPr>
                <a:t> de </a:t>
              </a:r>
              <a:r>
                <a:rPr lang="en-US" sz="3104" dirty="0" err="1">
                  <a:solidFill>
                    <a:srgbClr val="FFFFFF"/>
                  </a:solidFill>
                  <a:latin typeface="Roboto"/>
                  <a:ea typeface="Roboto"/>
                  <a:cs typeface="Roboto"/>
                  <a:sym typeface="Roboto"/>
                </a:rPr>
                <a:t>conflictos</a:t>
              </a:r>
              <a:r>
                <a:rPr lang="en-US" sz="3104" dirty="0">
                  <a:solidFill>
                    <a:srgbClr val="FFFFFF"/>
                  </a:solidFill>
                  <a:latin typeface="Roboto"/>
                  <a:ea typeface="Roboto"/>
                  <a:cs typeface="Roboto"/>
                  <a:sym typeface="Roboto"/>
                </a:rPr>
                <a:t> o </a:t>
              </a:r>
              <a:r>
                <a:rPr lang="en-US" sz="3104" dirty="0" err="1">
                  <a:solidFill>
                    <a:srgbClr val="FFFFFF"/>
                  </a:solidFill>
                  <a:latin typeface="Roboto"/>
                  <a:ea typeface="Roboto"/>
                  <a:cs typeface="Roboto"/>
                  <a:sym typeface="Roboto"/>
                </a:rPr>
                <a:t>inconvenientes</a:t>
              </a:r>
              <a:r>
                <a:rPr lang="en-US" sz="3104" dirty="0">
                  <a:solidFill>
                    <a:srgbClr val="FFFFFF"/>
                  </a:solidFill>
                  <a:latin typeface="Roboto"/>
                  <a:ea typeface="Roboto"/>
                  <a:cs typeface="Roboto"/>
                  <a:sym typeface="Roboto"/>
                </a:rPr>
                <a:t>, </a:t>
              </a:r>
              <a:r>
                <a:rPr lang="en-US" sz="3104" dirty="0" err="1">
                  <a:solidFill>
                    <a:srgbClr val="FFFFFF"/>
                  </a:solidFill>
                  <a:latin typeface="Roboto"/>
                  <a:ea typeface="Roboto"/>
                  <a:cs typeface="Roboto"/>
                  <a:sym typeface="Roboto"/>
                </a:rPr>
                <a:t>asertividad</a:t>
              </a:r>
              <a:r>
                <a:rPr lang="en-US" sz="3104" dirty="0">
                  <a:solidFill>
                    <a:srgbClr val="FFFFFF"/>
                  </a:solidFill>
                  <a:latin typeface="Roboto"/>
                  <a:ea typeface="Roboto"/>
                  <a:cs typeface="Roboto"/>
                  <a:sym typeface="Roboto"/>
                </a:rPr>
                <a:t> y </a:t>
              </a:r>
              <a:r>
                <a:rPr lang="en-US" sz="3104" dirty="0" err="1">
                  <a:solidFill>
                    <a:srgbClr val="FFFFFF"/>
                  </a:solidFill>
                  <a:latin typeface="Roboto"/>
                  <a:ea typeface="Roboto"/>
                  <a:cs typeface="Roboto"/>
                  <a:sym typeface="Roboto"/>
                </a:rPr>
                <a:t>tiempo</a:t>
              </a:r>
              <a:r>
                <a:rPr lang="en-US" sz="3104" dirty="0">
                  <a:solidFill>
                    <a:srgbClr val="FFFFFF"/>
                  </a:solidFill>
                  <a:latin typeface="Roboto"/>
                  <a:ea typeface="Roboto"/>
                  <a:cs typeface="Roboto"/>
                  <a:sym typeface="Roboto"/>
                </a:rPr>
                <a:t>/</a:t>
              </a:r>
              <a:r>
                <a:rPr lang="en-US" sz="3104" dirty="0" err="1">
                  <a:solidFill>
                    <a:srgbClr val="FFFFFF"/>
                  </a:solidFill>
                  <a:latin typeface="Roboto"/>
                  <a:ea typeface="Roboto"/>
                  <a:cs typeface="Roboto"/>
                  <a:sym typeface="Roboto"/>
                </a:rPr>
                <a:t>plazo</a:t>
              </a:r>
              <a:endParaRPr lang="en-US" sz="3104" dirty="0">
                <a:solidFill>
                  <a:srgbClr val="FFFFFF"/>
                </a:solidFill>
                <a:latin typeface="Roboto"/>
                <a:ea typeface="Roboto"/>
                <a:cs typeface="Roboto"/>
                <a:sym typeface="Roboto"/>
              </a:endParaRPr>
            </a:p>
          </p:txBody>
        </p:sp>
      </p:grpSp>
      <p:grpSp>
        <p:nvGrpSpPr>
          <p:cNvPr id="49" name="Group 49"/>
          <p:cNvGrpSpPr/>
          <p:nvPr/>
        </p:nvGrpSpPr>
        <p:grpSpPr>
          <a:xfrm>
            <a:off x="3216878" y="6776114"/>
            <a:ext cx="13662231" cy="1680239"/>
            <a:chOff x="0" y="0"/>
            <a:chExt cx="18216308" cy="2240318"/>
          </a:xfrm>
        </p:grpSpPr>
        <p:sp>
          <p:nvSpPr>
            <p:cNvPr id="50" name="Freeform 50"/>
            <p:cNvSpPr/>
            <p:nvPr/>
          </p:nvSpPr>
          <p:spPr>
            <a:xfrm>
              <a:off x="0" y="0"/>
              <a:ext cx="18216245" cy="2240280"/>
            </a:xfrm>
            <a:custGeom>
              <a:avLst/>
              <a:gdLst/>
              <a:ahLst/>
              <a:cxnLst/>
              <a:rect l="l" t="t" r="r" b="b"/>
              <a:pathLst>
                <a:path w="18216245" h="2240280">
                  <a:moveTo>
                    <a:pt x="146304" y="0"/>
                  </a:moveTo>
                  <a:lnTo>
                    <a:pt x="18069940" y="0"/>
                  </a:lnTo>
                  <a:cubicBezTo>
                    <a:pt x="18150712" y="0"/>
                    <a:pt x="18216245" y="65532"/>
                    <a:pt x="18216245" y="146304"/>
                  </a:cubicBezTo>
                  <a:lnTo>
                    <a:pt x="18216245" y="2093976"/>
                  </a:lnTo>
                  <a:cubicBezTo>
                    <a:pt x="18216245" y="2174748"/>
                    <a:pt x="18150712" y="2240280"/>
                    <a:pt x="18069940" y="2240280"/>
                  </a:cubicBezTo>
                  <a:lnTo>
                    <a:pt x="146304" y="2240280"/>
                  </a:lnTo>
                  <a:cubicBezTo>
                    <a:pt x="65532" y="2240280"/>
                    <a:pt x="0" y="2174875"/>
                    <a:pt x="0" y="2093976"/>
                  </a:cubicBezTo>
                  <a:lnTo>
                    <a:pt x="0" y="146304"/>
                  </a:lnTo>
                  <a:cubicBezTo>
                    <a:pt x="0" y="65532"/>
                    <a:pt x="65532" y="0"/>
                    <a:pt x="146304" y="0"/>
                  </a:cubicBezTo>
                  <a:close/>
                </a:path>
              </a:pathLst>
            </a:custGeom>
            <a:solidFill>
              <a:srgbClr val="A41937"/>
            </a:solidFill>
            <a:ln w="12700">
              <a:solidFill>
                <a:srgbClr val="000000"/>
              </a:solidFill>
            </a:ln>
          </p:spPr>
        </p:sp>
      </p:grpSp>
      <p:grpSp>
        <p:nvGrpSpPr>
          <p:cNvPr id="51" name="Group 51"/>
          <p:cNvGrpSpPr/>
          <p:nvPr/>
        </p:nvGrpSpPr>
        <p:grpSpPr>
          <a:xfrm>
            <a:off x="3216878" y="6595291"/>
            <a:ext cx="13662231" cy="1861071"/>
            <a:chOff x="0" y="0"/>
            <a:chExt cx="18216308" cy="2481428"/>
          </a:xfrm>
        </p:grpSpPr>
        <p:sp>
          <p:nvSpPr>
            <p:cNvPr id="52" name="Freeform 52"/>
            <p:cNvSpPr/>
            <p:nvPr/>
          </p:nvSpPr>
          <p:spPr>
            <a:xfrm>
              <a:off x="0" y="0"/>
              <a:ext cx="18216307" cy="2481422"/>
            </a:xfrm>
            <a:custGeom>
              <a:avLst/>
              <a:gdLst/>
              <a:ahLst/>
              <a:cxnLst/>
              <a:rect l="l" t="t" r="r" b="b"/>
              <a:pathLst>
                <a:path w="18216307" h="2481422">
                  <a:moveTo>
                    <a:pt x="0" y="0"/>
                  </a:moveTo>
                  <a:lnTo>
                    <a:pt x="18216307" y="0"/>
                  </a:lnTo>
                  <a:lnTo>
                    <a:pt x="18216307" y="2481422"/>
                  </a:lnTo>
                  <a:lnTo>
                    <a:pt x="0" y="2481422"/>
                  </a:lnTo>
                  <a:close/>
                </a:path>
              </a:pathLst>
            </a:custGeom>
            <a:solidFill>
              <a:srgbClr val="000000">
                <a:alpha val="0"/>
              </a:srgbClr>
            </a:solidFill>
            <a:ln w="12700">
              <a:noFill/>
            </a:ln>
          </p:spPr>
        </p:sp>
        <p:sp>
          <p:nvSpPr>
            <p:cNvPr id="53" name="TextBox 53"/>
            <p:cNvSpPr txBox="1"/>
            <p:nvPr/>
          </p:nvSpPr>
          <p:spPr>
            <a:xfrm>
              <a:off x="0" y="-47625"/>
              <a:ext cx="18216308" cy="2529053"/>
            </a:xfrm>
            <a:prstGeom prst="rect">
              <a:avLst/>
            </a:prstGeom>
            <a:ln>
              <a:noFill/>
            </a:ln>
          </p:spPr>
          <p:txBody>
            <a:bodyPr lIns="0" tIns="0" rIns="0" bIns="0" rtlCol="0" anchor="ctr"/>
            <a:lstStyle/>
            <a:p>
              <a:pPr algn="ctr">
                <a:lnSpc>
                  <a:spcPts val="4036"/>
                </a:lnSpc>
              </a:pPr>
              <a:r>
                <a:rPr lang="en-US" sz="3104" b="1">
                  <a:solidFill>
                    <a:srgbClr val="B8D8FF"/>
                  </a:solidFill>
                  <a:latin typeface="Roboto Bold"/>
                  <a:ea typeface="Roboto Bold"/>
                  <a:cs typeface="Roboto Bold"/>
                  <a:sym typeface="Roboto Bold"/>
                </a:rPr>
                <a:t>Gestión del conocimiento:</a:t>
              </a:r>
              <a:r>
                <a:rPr lang="en-US" sz="3104" b="1">
                  <a:solidFill>
                    <a:srgbClr val="FFFFFF"/>
                  </a:solidFill>
                  <a:latin typeface="Roboto Bold"/>
                  <a:ea typeface="Roboto Bold"/>
                  <a:cs typeface="Roboto Bold"/>
                  <a:sym typeface="Roboto Bold"/>
                </a:rPr>
                <a:t> </a:t>
              </a:r>
              <a:r>
                <a:rPr lang="en-US" sz="3104">
                  <a:solidFill>
                    <a:srgbClr val="FFFFFF"/>
                  </a:solidFill>
                  <a:latin typeface="Roboto"/>
                  <a:ea typeface="Roboto"/>
                  <a:cs typeface="Roboto"/>
                  <a:sym typeface="Roboto"/>
                </a:rPr>
                <a:t>Capacitación y actualización brindada por los especialistas, acceso a la información y protocolos, transferencia de conocimiento</a:t>
              </a:r>
            </a:p>
          </p:txBody>
        </p:sp>
      </p:grpSp>
      <p:grpSp>
        <p:nvGrpSpPr>
          <p:cNvPr id="54" name="Group 24">
            <a:extLst>
              <a:ext uri="{FF2B5EF4-FFF2-40B4-BE49-F238E27FC236}">
                <a16:creationId xmlns:a16="http://schemas.microsoft.com/office/drawing/2014/main" id="{D6C59577-0683-4F64-B4AF-C1356ECE1CAF}"/>
              </a:ext>
            </a:extLst>
          </p:cNvPr>
          <p:cNvGrpSpPr/>
          <p:nvPr/>
        </p:nvGrpSpPr>
        <p:grpSpPr>
          <a:xfrm>
            <a:off x="-9496" y="1610"/>
            <a:ext cx="1789547" cy="1113206"/>
            <a:chOff x="0" y="0"/>
            <a:chExt cx="2386063" cy="1484274"/>
          </a:xfrm>
        </p:grpSpPr>
        <p:sp>
          <p:nvSpPr>
            <p:cNvPr id="55" name="Freeform 25">
              <a:extLst>
                <a:ext uri="{FF2B5EF4-FFF2-40B4-BE49-F238E27FC236}">
                  <a16:creationId xmlns:a16="http://schemas.microsoft.com/office/drawing/2014/main" id="{8E446FD4-AAC8-40D2-B1B5-4533339E33EC}"/>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11" name="TextBox 11"/>
          <p:cNvSpPr txBox="1"/>
          <p:nvPr/>
        </p:nvSpPr>
        <p:spPr>
          <a:xfrm>
            <a:off x="3385261" y="1760353"/>
            <a:ext cx="13966908" cy="1619964"/>
          </a:xfrm>
          <a:prstGeom prst="rect">
            <a:avLst/>
          </a:prstGeom>
        </p:spPr>
        <p:txBody>
          <a:bodyPr lIns="0" tIns="0" rIns="0" bIns="0" rtlCol="0" anchor="t">
            <a:spAutoFit/>
          </a:bodyPr>
          <a:lstStyle/>
          <a:p>
            <a:pPr algn="just">
              <a:lnSpc>
                <a:spcPts val="4121"/>
              </a:lnSpc>
            </a:pPr>
            <a:r>
              <a:rPr lang="en-US" sz="3170" b="1">
                <a:solidFill>
                  <a:srgbClr val="3F62A2"/>
                </a:solidFill>
                <a:latin typeface="Roboto Bold"/>
                <a:ea typeface="Roboto Bold"/>
                <a:cs typeface="Roboto Bold"/>
                <a:sym typeface="Roboto Bold"/>
              </a:rPr>
              <a:t>Metodología: </a:t>
            </a:r>
            <a:r>
              <a:rPr lang="en-US" sz="3170">
                <a:solidFill>
                  <a:srgbClr val="3F62A2"/>
                </a:solidFill>
                <a:latin typeface="Roboto"/>
                <a:ea typeface="Roboto"/>
                <a:cs typeface="Roboto"/>
                <a:sym typeface="Roboto"/>
              </a:rPr>
              <a:t>Compuesto por dos (02) formularios web, cada uno con ocho preguntas cerradas y dos de respuesta abierta, considerando las dimensiones de: disponibilidad, efectividad y gestión del conocimiento.</a:t>
            </a:r>
          </a:p>
        </p:txBody>
      </p:sp>
      <p:sp>
        <p:nvSpPr>
          <p:cNvPr id="12" name="TextBox 12"/>
          <p:cNvSpPr txBox="1"/>
          <p:nvPr/>
        </p:nvSpPr>
        <p:spPr>
          <a:xfrm>
            <a:off x="2299144" y="50997"/>
            <a:ext cx="49915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1.  Ficha Técnica</a:t>
            </a:r>
          </a:p>
        </p:txBody>
      </p:sp>
      <p:sp>
        <p:nvSpPr>
          <p:cNvPr id="13" name="TextBox 13"/>
          <p:cNvSpPr txBox="1"/>
          <p:nvPr/>
        </p:nvSpPr>
        <p:spPr>
          <a:xfrm>
            <a:off x="2556805" y="898112"/>
            <a:ext cx="5949448"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1.2 Metodología</a:t>
            </a:r>
          </a:p>
        </p:txBody>
      </p:sp>
      <p:sp>
        <p:nvSpPr>
          <p:cNvPr id="39" name="TextBox 39"/>
          <p:cNvSpPr txBox="1"/>
          <p:nvPr/>
        </p:nvSpPr>
        <p:spPr>
          <a:xfrm>
            <a:off x="2556805" y="3543043"/>
            <a:ext cx="8670874"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1.3 Descripción del estudio de medición</a:t>
            </a:r>
          </a:p>
        </p:txBody>
      </p:sp>
      <p:graphicFrame>
        <p:nvGraphicFramePr>
          <p:cNvPr id="40" name="Table 40"/>
          <p:cNvGraphicFramePr>
            <a:graphicFrameLocks noGrp="1"/>
          </p:cNvGraphicFramePr>
          <p:nvPr/>
        </p:nvGraphicFramePr>
        <p:xfrm>
          <a:off x="3385265" y="5373406"/>
          <a:ext cx="13957300" cy="3238500"/>
        </p:xfrm>
        <a:graphic>
          <a:graphicData uri="http://schemas.openxmlformats.org/drawingml/2006/table">
            <a:tbl>
              <a:tblPr/>
              <a:tblGrid>
                <a:gridCol w="4913820">
                  <a:extLst>
                    <a:ext uri="{9D8B030D-6E8A-4147-A177-3AD203B41FA5}">
                      <a16:colId xmlns:a16="http://schemas.microsoft.com/office/drawing/2014/main" val="20000"/>
                    </a:ext>
                  </a:extLst>
                </a:gridCol>
                <a:gridCol w="2789213">
                  <a:extLst>
                    <a:ext uri="{9D8B030D-6E8A-4147-A177-3AD203B41FA5}">
                      <a16:colId xmlns:a16="http://schemas.microsoft.com/office/drawing/2014/main" val="20001"/>
                    </a:ext>
                  </a:extLst>
                </a:gridCol>
                <a:gridCol w="6254267">
                  <a:extLst>
                    <a:ext uri="{9D8B030D-6E8A-4147-A177-3AD203B41FA5}">
                      <a16:colId xmlns:a16="http://schemas.microsoft.com/office/drawing/2014/main" val="20002"/>
                    </a:ext>
                  </a:extLst>
                </a:gridCol>
              </a:tblGrid>
              <a:tr h="1079500">
                <a:tc>
                  <a:txBody>
                    <a:bodyPr/>
                    <a:lstStyle/>
                    <a:p>
                      <a:pPr algn="ctr">
                        <a:lnSpc>
                          <a:spcPts val="2819"/>
                        </a:lnSpc>
                        <a:defRPr/>
                      </a:pPr>
                      <a:r>
                        <a:rPr lang="en-US" sz="2349" b="1">
                          <a:solidFill>
                            <a:srgbClr val="FFFFFF"/>
                          </a:solidFill>
                          <a:latin typeface="Arial Bold"/>
                          <a:ea typeface="Arial Bold"/>
                          <a:cs typeface="Arial Bold"/>
                          <a:sym typeface="Arial Bold"/>
                        </a:rPr>
                        <a:t>Macroproceso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819"/>
                        </a:lnSpc>
                        <a:defRPr/>
                      </a:pPr>
                      <a:r>
                        <a:rPr lang="en-US" sz="2349" b="1">
                          <a:solidFill>
                            <a:srgbClr val="FFFFFF"/>
                          </a:solidFill>
                          <a:latin typeface="Arial Bold"/>
                          <a:ea typeface="Arial Bold"/>
                          <a:cs typeface="Arial Bold"/>
                          <a:sym typeface="Arial Bold"/>
                        </a:rPr>
                        <a:t>Número de 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819"/>
                        </a:lnSpc>
                        <a:defRPr/>
                      </a:pPr>
                      <a:r>
                        <a:rPr lang="en-US" sz="2349" b="1">
                          <a:solidFill>
                            <a:srgbClr val="FFFFFF"/>
                          </a:solidFill>
                          <a:latin typeface="Arial Bold"/>
                          <a:ea typeface="Arial Bold"/>
                          <a:cs typeface="Arial Bold"/>
                          <a:sym typeface="Arial Bold"/>
                        </a:rPr>
                        <a:t>Proceso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0"/>
                  </a:ext>
                </a:extLst>
              </a:tr>
              <a:tr h="1079500">
                <a:tc>
                  <a:txBody>
                    <a:bodyPr/>
                    <a:lstStyle/>
                    <a:p>
                      <a:pPr algn="l">
                        <a:lnSpc>
                          <a:spcPts val="2459"/>
                        </a:lnSpc>
                        <a:defRPr/>
                      </a:pPr>
                      <a:r>
                        <a:rPr lang="en-US" sz="2049">
                          <a:solidFill>
                            <a:srgbClr val="032044"/>
                          </a:solidFill>
                          <a:latin typeface="Arial"/>
                          <a:ea typeface="Arial"/>
                          <a:cs typeface="Arial"/>
                          <a:sym typeface="Arial"/>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NA-03.1 CONTROL DE MANIFIESTO DE INGRESO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1"/>
                  </a:ext>
                </a:extLst>
              </a:tr>
              <a:tr h="1079500">
                <a:tc>
                  <a:txBody>
                    <a:bodyPr/>
                    <a:lstStyle/>
                    <a:p>
                      <a:pPr algn="just">
                        <a:lnSpc>
                          <a:spcPts val="2459"/>
                        </a:lnSpc>
                        <a:defRPr/>
                      </a:pPr>
                      <a:r>
                        <a:rPr lang="en-US" sz="2049">
                          <a:solidFill>
                            <a:srgbClr val="032044"/>
                          </a:solidFill>
                          <a:latin typeface="Arial"/>
                          <a:ea typeface="Arial"/>
                          <a:cs typeface="Arial"/>
                          <a:sym typeface="Arial"/>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a:solidFill>
                            <a:srgbClr val="032044"/>
                          </a:solidFill>
                          <a:latin typeface="Arial"/>
                          <a:ea typeface="Arial"/>
                          <a:cs typeface="Arial"/>
                          <a:sym typeface="Arial"/>
                        </a:rPr>
                        <a:t>NA-04.4 CONTROL DE MANIFIESTO DE SALIDA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1" name="TextBox 41"/>
          <p:cNvSpPr txBox="1"/>
          <p:nvPr/>
        </p:nvSpPr>
        <p:spPr>
          <a:xfrm>
            <a:off x="3385261" y="4172455"/>
            <a:ext cx="13966908" cy="881748"/>
          </a:xfrm>
          <a:prstGeom prst="rect">
            <a:avLst/>
          </a:prstGeom>
        </p:spPr>
        <p:txBody>
          <a:bodyPr lIns="0" tIns="0" rIns="0" bIns="0" rtlCol="0" anchor="t">
            <a:spAutoFit/>
          </a:bodyPr>
          <a:lstStyle/>
          <a:p>
            <a:pPr algn="just">
              <a:lnSpc>
                <a:spcPts val="3341"/>
              </a:lnSpc>
            </a:pPr>
            <a:r>
              <a:rPr lang="en-US" sz="2570">
                <a:solidFill>
                  <a:srgbClr val="3F62A2"/>
                </a:solidFill>
                <a:latin typeface="Roboto"/>
                <a:ea typeface="Roboto"/>
                <a:cs typeface="Roboto"/>
                <a:sym typeface="Roboto"/>
              </a:rPr>
              <a:t>Las encuestas para los procesos que brinda la Sección de Manifiestos de la Intendencia de Aduana de Tacana se realizaron considerando lo señalado en el cuadro siguiente</a:t>
            </a:r>
          </a:p>
        </p:txBody>
      </p:sp>
      <p:grpSp>
        <p:nvGrpSpPr>
          <p:cNvPr id="42" name="Group 24">
            <a:extLst>
              <a:ext uri="{FF2B5EF4-FFF2-40B4-BE49-F238E27FC236}">
                <a16:creationId xmlns:a16="http://schemas.microsoft.com/office/drawing/2014/main" id="{32B8999A-6959-43D0-8086-47700528A732}"/>
              </a:ext>
            </a:extLst>
          </p:cNvPr>
          <p:cNvGrpSpPr/>
          <p:nvPr/>
        </p:nvGrpSpPr>
        <p:grpSpPr>
          <a:xfrm>
            <a:off x="-9496" y="1610"/>
            <a:ext cx="1789547" cy="1113206"/>
            <a:chOff x="0" y="0"/>
            <a:chExt cx="2386063" cy="1484274"/>
          </a:xfrm>
        </p:grpSpPr>
        <p:sp>
          <p:nvSpPr>
            <p:cNvPr id="43" name="Freeform 25">
              <a:extLst>
                <a:ext uri="{FF2B5EF4-FFF2-40B4-BE49-F238E27FC236}">
                  <a16:creationId xmlns:a16="http://schemas.microsoft.com/office/drawing/2014/main" id="{C3AAEEF0-BF14-42E1-8E0D-3CAAD4DBF116}"/>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74641" y="-32223"/>
            <a:ext cx="1101280" cy="207169"/>
            <a:chOff x="0" y="0"/>
            <a:chExt cx="1468374" cy="276225"/>
          </a:xfrm>
        </p:grpSpPr>
        <p:sp>
          <p:nvSpPr>
            <p:cNvPr id="3" name="Freeform 3"/>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sp>
        <p:nvSpPr>
          <p:cNvPr id="4" name="TextBox 4"/>
          <p:cNvSpPr txBox="1"/>
          <p:nvPr/>
        </p:nvSpPr>
        <p:spPr>
          <a:xfrm>
            <a:off x="2299144" y="50997"/>
            <a:ext cx="62071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2. Resumen Ejecutivo</a:t>
            </a:r>
          </a:p>
        </p:txBody>
      </p:sp>
      <p:sp>
        <p:nvSpPr>
          <p:cNvPr id="5" name="TextBox 5"/>
          <p:cNvSpPr txBox="1"/>
          <p:nvPr/>
        </p:nvSpPr>
        <p:spPr>
          <a:xfrm>
            <a:off x="2547280" y="849592"/>
            <a:ext cx="11479387"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2.1 Indicadores de Satisfacción de cada  Subproceso</a:t>
            </a:r>
          </a:p>
        </p:txBody>
      </p:sp>
      <p:graphicFrame>
        <p:nvGraphicFramePr>
          <p:cNvPr id="31" name="Table 31"/>
          <p:cNvGraphicFramePr>
            <a:graphicFrameLocks noGrp="1"/>
          </p:cNvGraphicFramePr>
          <p:nvPr/>
        </p:nvGraphicFramePr>
        <p:xfrm>
          <a:off x="1112544" y="1853656"/>
          <a:ext cx="16802099" cy="6502399"/>
        </p:xfrm>
        <a:graphic>
          <a:graphicData uri="http://schemas.openxmlformats.org/drawingml/2006/table">
            <a:tbl>
              <a:tblPr/>
              <a:tblGrid>
                <a:gridCol w="2906819">
                  <a:extLst>
                    <a:ext uri="{9D8B030D-6E8A-4147-A177-3AD203B41FA5}">
                      <a16:colId xmlns:a16="http://schemas.microsoft.com/office/drawing/2014/main" val="20000"/>
                    </a:ext>
                  </a:extLst>
                </a:gridCol>
                <a:gridCol w="9716188">
                  <a:extLst>
                    <a:ext uri="{9D8B030D-6E8A-4147-A177-3AD203B41FA5}">
                      <a16:colId xmlns:a16="http://schemas.microsoft.com/office/drawing/2014/main" val="20001"/>
                    </a:ext>
                  </a:extLst>
                </a:gridCol>
                <a:gridCol w="2089546">
                  <a:extLst>
                    <a:ext uri="{9D8B030D-6E8A-4147-A177-3AD203B41FA5}">
                      <a16:colId xmlns:a16="http://schemas.microsoft.com/office/drawing/2014/main" val="20002"/>
                    </a:ext>
                  </a:extLst>
                </a:gridCol>
                <a:gridCol w="2089546">
                  <a:extLst>
                    <a:ext uri="{9D8B030D-6E8A-4147-A177-3AD203B41FA5}">
                      <a16:colId xmlns:a16="http://schemas.microsoft.com/office/drawing/2014/main" val="20003"/>
                    </a:ext>
                  </a:extLst>
                </a:gridCol>
              </a:tblGrid>
              <a:tr h="933260">
                <a:tc>
                  <a:txBody>
                    <a:bodyPr/>
                    <a:lstStyle/>
                    <a:p>
                      <a:pPr algn="ctr">
                        <a:lnSpc>
                          <a:spcPts val="2459"/>
                        </a:lnSpc>
                        <a:defRPr/>
                      </a:pPr>
                      <a:r>
                        <a:rPr lang="en-US" sz="2049" b="1">
                          <a:solidFill>
                            <a:srgbClr val="FFFFFF"/>
                          </a:solidFill>
                          <a:latin typeface="Arial Bold"/>
                          <a:ea typeface="Arial Bold"/>
                          <a:cs typeface="Arial Bold"/>
                          <a:sym typeface="Arial Bold"/>
                        </a:rPr>
                        <a:t>Procesos del Sistema Integrado de Gestión</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459"/>
                        </a:lnSpc>
                        <a:defRPr/>
                      </a:pPr>
                      <a:r>
                        <a:rPr lang="en-US" sz="2049" b="1">
                          <a:solidFill>
                            <a:srgbClr val="FFFFFF"/>
                          </a:solidFill>
                          <a:latin typeface="Arial Bold"/>
                          <a:ea typeface="Arial Bold"/>
                          <a:cs typeface="Arial Bold"/>
                          <a:sym typeface="Arial Bold"/>
                        </a:rPr>
                        <a:t>Subprocesos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Satisfacción Declarada del subproceso *</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Indicador General de Satisfacción **</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0"/>
                  </a:ext>
                </a:extLst>
              </a:tr>
              <a:tr h="547258">
                <a:tc rowSpan="5">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Transmisión electrónica de manifiestos de carga de ingreso vía WEB-Extranet.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3,78</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rowSpan="5">
                  <a:txBody>
                    <a:bodyPr/>
                    <a:lstStyle/>
                    <a:p>
                      <a:pPr algn="ctr">
                        <a:lnSpc>
                          <a:spcPts val="2579"/>
                        </a:lnSpc>
                        <a:defRPr/>
                      </a:pPr>
                      <a:r>
                        <a:rPr lang="en-US" sz="2149" b="1">
                          <a:solidFill>
                            <a:srgbClr val="032044"/>
                          </a:solidFill>
                          <a:latin typeface="Arial Bold"/>
                          <a:ea typeface="Arial Bold"/>
                          <a:cs typeface="Arial Bold"/>
                          <a:sym typeface="Arial Bold"/>
                        </a:rPr>
                        <a:t>3,84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1"/>
                  </a:ext>
                </a:extLst>
              </a:tr>
              <a:tr h="499189">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en el control de manifiestos de carga de ingreso en el complejo fronterizo Santa Rosa.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3,78</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2"/>
                  </a:ext>
                </a:extLst>
              </a:tr>
              <a:tr h="499189">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rectificación manifiestos de carga de ingreso.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3"/>
                  </a:ext>
                </a:extLst>
              </a:tr>
              <a:tr h="499189">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solicitudes de clave 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4"/>
                  </a:ext>
                </a:extLst>
              </a:tr>
              <a:tr h="763779">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consultas u orientación brindadas por la Sección de Manifiestos (llamadas, WhatsApp, otros).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4,11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5"/>
                  </a:ext>
                </a:extLst>
              </a:tr>
              <a:tr h="574323">
                <a:tc rowSpan="5">
                  <a:txBody>
                    <a:bodyPr/>
                    <a:lstStyle/>
                    <a:p>
                      <a:pPr algn="l">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Transmisión electrónica de manifiestos de carga de salida vía WEB-Extranet.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rowSpan="5">
                  <a:txBody>
                    <a:bodyPr/>
                    <a:lstStyle/>
                    <a:p>
                      <a:pPr algn="ctr">
                        <a:lnSpc>
                          <a:spcPts val="2579"/>
                        </a:lnSpc>
                        <a:defRPr/>
                      </a:pPr>
                      <a:r>
                        <a:rPr lang="en-US" sz="2149" b="1">
                          <a:solidFill>
                            <a:srgbClr val="032044"/>
                          </a:solidFill>
                          <a:latin typeface="Arial Bold"/>
                          <a:ea typeface="Arial Bold"/>
                          <a:cs typeface="Arial Bold"/>
                          <a:sym typeface="Arial Bold"/>
                        </a:rPr>
                        <a:t>3,71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6"/>
                  </a:ext>
                </a:extLst>
              </a:tr>
              <a:tr h="499189">
                <a:tc vMerge="1">
                  <a:txBody>
                    <a:bodyPr/>
                    <a:lstStyle/>
                    <a:p>
                      <a:pPr algn="l">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en el control de manifiestos de carga de salida en el complejo fronterizo Santa Rosa.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3,54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7"/>
                  </a:ext>
                </a:extLst>
              </a:tr>
              <a:tr h="499189">
                <a:tc vMerge="1">
                  <a:txBody>
                    <a:bodyPr/>
                    <a:lstStyle/>
                    <a:p>
                      <a:pPr algn="l">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rectificación manifiestos de carga de salida.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8"/>
                  </a:ext>
                </a:extLst>
              </a:tr>
              <a:tr h="499189">
                <a:tc vMerge="1">
                  <a:txBody>
                    <a:bodyPr/>
                    <a:lstStyle/>
                    <a:p>
                      <a:pPr algn="l">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solicitudes de clave 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9"/>
                  </a:ext>
                </a:extLst>
              </a:tr>
              <a:tr h="688645">
                <a:tc vMerge="1">
                  <a:txBody>
                    <a:bodyPr/>
                    <a:lstStyle/>
                    <a:p>
                      <a:pPr algn="l">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consultas u orientación brindadas por la Sección de Manifiestos (llamadas, WhatsApp, otros).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3,92</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2" name="TextBox 32"/>
          <p:cNvSpPr txBox="1"/>
          <p:nvPr/>
        </p:nvSpPr>
        <p:spPr>
          <a:xfrm>
            <a:off x="1218895" y="8623840"/>
            <a:ext cx="13966908"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 el indicador obtenido por la pregunta directa de satisfacción realizada en la encuesta</a:t>
            </a:r>
          </a:p>
        </p:txBody>
      </p:sp>
      <p:sp>
        <p:nvSpPr>
          <p:cNvPr id="33" name="TextBox 33"/>
          <p:cNvSpPr txBox="1"/>
          <p:nvPr/>
        </p:nvSpPr>
        <p:spPr>
          <a:xfrm>
            <a:off x="1218895" y="9118883"/>
            <a:ext cx="15079894"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**Este indicador se calcula sobre la base del promedio simple no ponderado de las respuestas por cada subproceso</a:t>
            </a:r>
          </a:p>
        </p:txBody>
      </p:sp>
      <p:sp>
        <p:nvSpPr>
          <p:cNvPr id="34" name="Freeform 34"/>
          <p:cNvSpPr/>
          <p:nvPr/>
        </p:nvSpPr>
        <p:spPr>
          <a:xfrm>
            <a:off x="15917085" y="3355600"/>
            <a:ext cx="1979657" cy="1154801"/>
          </a:xfrm>
          <a:custGeom>
            <a:avLst/>
            <a:gdLst/>
            <a:ahLst/>
            <a:cxnLst/>
            <a:rect l="l" t="t" r="r" b="b"/>
            <a:pathLst>
              <a:path w="1979657" h="1154801">
                <a:moveTo>
                  <a:pt x="0" y="0"/>
                </a:moveTo>
                <a:lnTo>
                  <a:pt x="1979657" y="0"/>
                </a:lnTo>
                <a:lnTo>
                  <a:pt x="1979657" y="1154802"/>
                </a:lnTo>
                <a:lnTo>
                  <a:pt x="0" y="1154802"/>
                </a:lnTo>
                <a:lnTo>
                  <a:pt x="0" y="0"/>
                </a:lnTo>
                <a:close/>
              </a:path>
            </a:pathLst>
          </a:custGeom>
          <a:blipFill>
            <a:blip r:embed="rId3"/>
            <a:stretch>
              <a:fillRect l="-137" r="-138"/>
            </a:stretch>
          </a:blipFill>
        </p:spPr>
      </p:sp>
      <p:sp>
        <p:nvSpPr>
          <p:cNvPr id="35" name="Freeform 35"/>
          <p:cNvSpPr/>
          <p:nvPr/>
        </p:nvSpPr>
        <p:spPr>
          <a:xfrm>
            <a:off x="15917085" y="6161494"/>
            <a:ext cx="1979657" cy="1154801"/>
          </a:xfrm>
          <a:custGeom>
            <a:avLst/>
            <a:gdLst/>
            <a:ahLst/>
            <a:cxnLst/>
            <a:rect l="l" t="t" r="r" b="b"/>
            <a:pathLst>
              <a:path w="1979657" h="1154801">
                <a:moveTo>
                  <a:pt x="0" y="0"/>
                </a:moveTo>
                <a:lnTo>
                  <a:pt x="1979657" y="0"/>
                </a:lnTo>
                <a:lnTo>
                  <a:pt x="1979657" y="1154801"/>
                </a:lnTo>
                <a:lnTo>
                  <a:pt x="0" y="1154801"/>
                </a:lnTo>
                <a:lnTo>
                  <a:pt x="0" y="0"/>
                </a:lnTo>
                <a:close/>
              </a:path>
            </a:pathLst>
          </a:custGeom>
          <a:blipFill>
            <a:blip r:embed="rId4"/>
            <a:stretch>
              <a:fillRect l="-137" r="-138"/>
            </a:stretch>
          </a:blipFill>
        </p:spPr>
      </p:sp>
      <p:grpSp>
        <p:nvGrpSpPr>
          <p:cNvPr id="36" name="Group 36"/>
          <p:cNvGrpSpPr/>
          <p:nvPr/>
        </p:nvGrpSpPr>
        <p:grpSpPr>
          <a:xfrm>
            <a:off x="0" y="9623441"/>
            <a:ext cx="18288000" cy="1066800"/>
            <a:chOff x="0" y="0"/>
            <a:chExt cx="24384000" cy="1422400"/>
          </a:xfrm>
        </p:grpSpPr>
        <p:sp>
          <p:nvSpPr>
            <p:cNvPr id="37" name="Freeform 37"/>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38" name="Freeform 38"/>
          <p:cNvSpPr/>
          <p:nvPr/>
        </p:nvSpPr>
        <p:spPr>
          <a:xfrm>
            <a:off x="15707192" y="966405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5">
              <a:extLst>
                <a:ext uri="{96DAC541-7B7A-43D3-8B79-37D633B846F1}">
                  <asvg:svgBlip xmlns:asvg="http://schemas.microsoft.com/office/drawing/2016/SVG/main" r:embed="rId6"/>
                </a:ext>
              </a:extLst>
            </a:blip>
            <a:stretch>
              <a:fillRect l="-126" r="-126"/>
            </a:stretch>
          </a:blipFill>
        </p:spPr>
      </p:sp>
      <p:grpSp>
        <p:nvGrpSpPr>
          <p:cNvPr id="39" name="Group 39"/>
          <p:cNvGrpSpPr/>
          <p:nvPr/>
        </p:nvGrpSpPr>
        <p:grpSpPr>
          <a:xfrm>
            <a:off x="2701709" y="9709166"/>
            <a:ext cx="2846489" cy="861965"/>
            <a:chOff x="0" y="0"/>
            <a:chExt cx="3795319" cy="1149286"/>
          </a:xfrm>
        </p:grpSpPr>
        <p:sp>
          <p:nvSpPr>
            <p:cNvPr id="40" name="Freeform 40"/>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7"/>
              <a:stretch>
                <a:fillRect r="-1" b="5"/>
              </a:stretch>
            </a:blipFill>
          </p:spPr>
        </p:sp>
      </p:grpSp>
      <p:grpSp>
        <p:nvGrpSpPr>
          <p:cNvPr id="41" name="Group 41"/>
          <p:cNvGrpSpPr/>
          <p:nvPr/>
        </p:nvGrpSpPr>
        <p:grpSpPr>
          <a:xfrm>
            <a:off x="426177" y="9709166"/>
            <a:ext cx="1749523" cy="500605"/>
            <a:chOff x="0" y="0"/>
            <a:chExt cx="2332698" cy="667474"/>
          </a:xfrm>
        </p:grpSpPr>
        <p:sp>
          <p:nvSpPr>
            <p:cNvPr id="42" name="Freeform 42"/>
            <p:cNvSpPr/>
            <p:nvPr/>
          </p:nvSpPr>
          <p:spPr>
            <a:xfrm>
              <a:off x="0" y="0"/>
              <a:ext cx="2332736" cy="667512"/>
            </a:xfrm>
            <a:custGeom>
              <a:avLst/>
              <a:gdLst/>
              <a:ahLst/>
              <a:cxnLst/>
              <a:rect l="l" t="t" r="r" b="b"/>
              <a:pathLst>
                <a:path w="2332736" h="667512">
                  <a:moveTo>
                    <a:pt x="0" y="0"/>
                  </a:moveTo>
                  <a:lnTo>
                    <a:pt x="2332736" y="0"/>
                  </a:lnTo>
                  <a:lnTo>
                    <a:pt x="2332736" y="667512"/>
                  </a:lnTo>
                  <a:lnTo>
                    <a:pt x="0" y="667512"/>
                  </a:lnTo>
                  <a:lnTo>
                    <a:pt x="0" y="0"/>
                  </a:lnTo>
                  <a:close/>
                </a:path>
              </a:pathLst>
            </a:custGeom>
            <a:blipFill>
              <a:blip r:embed="rId8"/>
              <a:stretch>
                <a:fillRect r="1" b="5"/>
              </a:stretch>
            </a:blipFill>
          </p:spPr>
        </p:sp>
      </p:grpSp>
      <p:grpSp>
        <p:nvGrpSpPr>
          <p:cNvPr id="43" name="Group 24">
            <a:extLst>
              <a:ext uri="{FF2B5EF4-FFF2-40B4-BE49-F238E27FC236}">
                <a16:creationId xmlns:a16="http://schemas.microsoft.com/office/drawing/2014/main" id="{9947DB02-5183-45D3-BD26-E97F72E7781C}"/>
              </a:ext>
            </a:extLst>
          </p:cNvPr>
          <p:cNvGrpSpPr/>
          <p:nvPr/>
        </p:nvGrpSpPr>
        <p:grpSpPr>
          <a:xfrm>
            <a:off x="-9496" y="1610"/>
            <a:ext cx="1789547" cy="1113206"/>
            <a:chOff x="0" y="0"/>
            <a:chExt cx="2386063" cy="1484274"/>
          </a:xfrm>
        </p:grpSpPr>
        <p:sp>
          <p:nvSpPr>
            <p:cNvPr id="44" name="Freeform 25">
              <a:extLst>
                <a:ext uri="{FF2B5EF4-FFF2-40B4-BE49-F238E27FC236}">
                  <a16:creationId xmlns:a16="http://schemas.microsoft.com/office/drawing/2014/main" id="{B906AD9C-E1BE-4052-BE11-DAC4D310604B}"/>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74641" y="-32223"/>
            <a:ext cx="1101280" cy="207169"/>
            <a:chOff x="0" y="0"/>
            <a:chExt cx="1468374" cy="276225"/>
          </a:xfrm>
        </p:grpSpPr>
        <p:sp>
          <p:nvSpPr>
            <p:cNvPr id="3" name="Freeform 3"/>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sp>
        <p:nvSpPr>
          <p:cNvPr id="4" name="TextBox 4"/>
          <p:cNvSpPr txBox="1"/>
          <p:nvPr/>
        </p:nvSpPr>
        <p:spPr>
          <a:xfrm>
            <a:off x="2299144" y="50997"/>
            <a:ext cx="62071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2. Resumen Ejecutivo</a:t>
            </a:r>
          </a:p>
        </p:txBody>
      </p:sp>
      <p:sp>
        <p:nvSpPr>
          <p:cNvPr id="5" name="TextBox 5"/>
          <p:cNvSpPr txBox="1"/>
          <p:nvPr/>
        </p:nvSpPr>
        <p:spPr>
          <a:xfrm>
            <a:off x="2547280" y="971550"/>
            <a:ext cx="14712020" cy="1210437"/>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2.2 Indicadores de Satisfacción de Subproceso asignados estrictamente a la Sección de Manifiestos</a:t>
            </a:r>
          </a:p>
        </p:txBody>
      </p:sp>
      <p:sp>
        <p:nvSpPr>
          <p:cNvPr id="31" name="TextBox 31"/>
          <p:cNvSpPr txBox="1"/>
          <p:nvPr/>
        </p:nvSpPr>
        <p:spPr>
          <a:xfrm>
            <a:off x="1112549" y="8496519"/>
            <a:ext cx="13966908"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 el indicador obtenido por la pregunta directa de satisfacción realizada en la encuesta</a:t>
            </a:r>
          </a:p>
        </p:txBody>
      </p:sp>
      <p:sp>
        <p:nvSpPr>
          <p:cNvPr id="32" name="TextBox 32"/>
          <p:cNvSpPr txBox="1"/>
          <p:nvPr/>
        </p:nvSpPr>
        <p:spPr>
          <a:xfrm>
            <a:off x="1112549" y="9029662"/>
            <a:ext cx="15079894"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**Este indicador se calcula sobre la base del promedio simple no ponderado de las respuestas por cada subproceso</a:t>
            </a:r>
          </a:p>
        </p:txBody>
      </p:sp>
      <p:sp>
        <p:nvSpPr>
          <p:cNvPr id="33" name="TextBox 33"/>
          <p:cNvSpPr txBox="1"/>
          <p:nvPr/>
        </p:nvSpPr>
        <p:spPr>
          <a:xfrm>
            <a:off x="2547280" y="2277237"/>
            <a:ext cx="13966908" cy="881748"/>
          </a:xfrm>
          <a:prstGeom prst="rect">
            <a:avLst/>
          </a:prstGeom>
        </p:spPr>
        <p:txBody>
          <a:bodyPr lIns="0" tIns="0" rIns="0" bIns="0" rtlCol="0" anchor="t">
            <a:spAutoFit/>
          </a:bodyPr>
          <a:lstStyle/>
          <a:p>
            <a:pPr algn="just">
              <a:lnSpc>
                <a:spcPts val="3341"/>
              </a:lnSpc>
            </a:pPr>
            <a:r>
              <a:rPr lang="en-US" sz="2570">
                <a:solidFill>
                  <a:srgbClr val="3F62A2"/>
                </a:solidFill>
                <a:latin typeface="Roboto"/>
                <a:ea typeface="Roboto"/>
                <a:cs typeface="Roboto"/>
                <a:sym typeface="Roboto"/>
              </a:rPr>
              <a:t>En la tabla se muestra el promedio simple de los tres subprocesos que corresponden estrictamente a la Sección de Manifiestos.</a:t>
            </a:r>
          </a:p>
        </p:txBody>
      </p:sp>
      <p:graphicFrame>
        <p:nvGraphicFramePr>
          <p:cNvPr id="34" name="Table 34"/>
          <p:cNvGraphicFramePr>
            <a:graphicFrameLocks noGrp="1"/>
          </p:cNvGraphicFramePr>
          <p:nvPr/>
        </p:nvGraphicFramePr>
        <p:xfrm>
          <a:off x="1028700" y="3626325"/>
          <a:ext cx="16802099" cy="4470400"/>
        </p:xfrm>
        <a:graphic>
          <a:graphicData uri="http://schemas.openxmlformats.org/drawingml/2006/table">
            <a:tbl>
              <a:tblPr/>
              <a:tblGrid>
                <a:gridCol w="2906819">
                  <a:extLst>
                    <a:ext uri="{9D8B030D-6E8A-4147-A177-3AD203B41FA5}">
                      <a16:colId xmlns:a16="http://schemas.microsoft.com/office/drawing/2014/main" val="20000"/>
                    </a:ext>
                  </a:extLst>
                </a:gridCol>
                <a:gridCol w="9716188">
                  <a:extLst>
                    <a:ext uri="{9D8B030D-6E8A-4147-A177-3AD203B41FA5}">
                      <a16:colId xmlns:a16="http://schemas.microsoft.com/office/drawing/2014/main" val="20001"/>
                    </a:ext>
                  </a:extLst>
                </a:gridCol>
                <a:gridCol w="2089546">
                  <a:extLst>
                    <a:ext uri="{9D8B030D-6E8A-4147-A177-3AD203B41FA5}">
                      <a16:colId xmlns:a16="http://schemas.microsoft.com/office/drawing/2014/main" val="20002"/>
                    </a:ext>
                  </a:extLst>
                </a:gridCol>
                <a:gridCol w="2089546">
                  <a:extLst>
                    <a:ext uri="{9D8B030D-6E8A-4147-A177-3AD203B41FA5}">
                      <a16:colId xmlns:a16="http://schemas.microsoft.com/office/drawing/2014/main" val="20003"/>
                    </a:ext>
                  </a:extLst>
                </a:gridCol>
              </a:tblGrid>
              <a:tr h="925976">
                <a:tc>
                  <a:txBody>
                    <a:bodyPr/>
                    <a:lstStyle/>
                    <a:p>
                      <a:pPr algn="ctr">
                        <a:lnSpc>
                          <a:spcPts val="2459"/>
                        </a:lnSpc>
                        <a:defRPr/>
                      </a:pPr>
                      <a:r>
                        <a:rPr lang="en-US" sz="2049" b="1">
                          <a:solidFill>
                            <a:srgbClr val="FFFFFF"/>
                          </a:solidFill>
                          <a:latin typeface="Arial Bold"/>
                          <a:ea typeface="Arial Bold"/>
                          <a:cs typeface="Arial Bold"/>
                          <a:sym typeface="Arial Bold"/>
                        </a:rPr>
                        <a:t>Procesos del Sistema Integrado de Gestión</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459"/>
                        </a:lnSpc>
                        <a:defRPr/>
                      </a:pPr>
                      <a:r>
                        <a:rPr lang="en-US" sz="2049" b="1">
                          <a:solidFill>
                            <a:srgbClr val="FFFFFF"/>
                          </a:solidFill>
                          <a:latin typeface="Arial Bold"/>
                          <a:ea typeface="Arial Bold"/>
                          <a:cs typeface="Arial Bold"/>
                          <a:sym typeface="Arial Bold"/>
                        </a:rPr>
                        <a:t>Subprocesos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Satisfacción Declarada del subproceso *</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Indicador General de Satisfacción **</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0"/>
                  </a:ext>
                </a:extLst>
              </a:tr>
              <a:tr h="542963">
                <a:tc rowSpan="3">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rectificación manifiestos de carga de ingreso.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rowSpan="3">
                  <a:txBody>
                    <a:bodyPr/>
                    <a:lstStyle/>
                    <a:p>
                      <a:pPr algn="ctr">
                        <a:lnSpc>
                          <a:spcPts val="2579"/>
                        </a:lnSpc>
                        <a:defRPr/>
                      </a:pPr>
                      <a:r>
                        <a:rPr lang="en-US" sz="21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1"/>
                  </a:ext>
                </a:extLst>
              </a:tr>
              <a:tr h="495290">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solicitudes de clave 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2"/>
                  </a:ext>
                </a:extLst>
              </a:tr>
              <a:tr h="757796">
                <a:tc vMerge="1">
                  <a:txBody>
                    <a:bodyPr/>
                    <a:lstStyle/>
                    <a:p>
                      <a:pPr algn="l">
                        <a:lnSpc>
                          <a:spcPts val="2459"/>
                        </a:lnSpc>
                        <a:defRPr/>
                      </a:pPr>
                      <a:r>
                        <a:rPr lang="en-US" sz="2049" b="1">
                          <a:solidFill>
                            <a:srgbClr val="032044"/>
                          </a:solidFill>
                          <a:latin typeface="Arial Bold"/>
                          <a:ea typeface="Arial Bold"/>
                          <a:cs typeface="Arial Bold"/>
                          <a:sym typeface="Arial Bold"/>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consultas u orientación brindadas por la Sección de Manifiestos (llamadas, WhatsApp, otros).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4,11</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571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3"/>
                  </a:ext>
                </a:extLst>
              </a:tr>
              <a:tr h="569817">
                <a:tc rowSpan="3">
                  <a:txBody>
                    <a:bodyPr/>
                    <a:lstStyle/>
                    <a:p>
                      <a:pPr algn="just">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rectificación manifiestos de carga de salida.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rowSpan="3">
                  <a:txBody>
                    <a:bodyPr/>
                    <a:lstStyle/>
                    <a:p>
                      <a:pPr algn="ctr">
                        <a:lnSpc>
                          <a:spcPts val="2579"/>
                        </a:lnSpc>
                        <a:defRPr/>
                      </a:pPr>
                      <a:r>
                        <a:rPr lang="en-US" sz="2149" b="1">
                          <a:solidFill>
                            <a:srgbClr val="032044"/>
                          </a:solidFill>
                          <a:latin typeface="Arial Bold"/>
                          <a:ea typeface="Arial Bold"/>
                          <a:cs typeface="Arial Bold"/>
                          <a:sym typeface="Arial Bold"/>
                        </a:rPr>
                        <a:t>3,77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4"/>
                  </a:ext>
                </a:extLst>
              </a:tr>
              <a:tr h="495290">
                <a:tc vMerge="1">
                  <a:txBody>
                    <a:bodyPr/>
                    <a:lstStyle/>
                    <a:p>
                      <a:pPr algn="just">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expedientes de solicitudes de clave Extranet.</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3,69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5"/>
                  </a:ext>
                </a:extLst>
              </a:tr>
              <a:tr h="683268">
                <a:tc vMerge="1">
                  <a:txBody>
                    <a:bodyPr/>
                    <a:lstStyle/>
                    <a:p>
                      <a:pPr algn="just">
                        <a:lnSpc>
                          <a:spcPts val="2579"/>
                        </a:lnSpc>
                        <a:defRPr/>
                      </a:pPr>
                      <a:r>
                        <a:rPr lang="en-US" sz="2149" b="1">
                          <a:solidFill>
                            <a:srgbClr val="032044"/>
                          </a:solidFill>
                          <a:latin typeface="Arial Bold"/>
                          <a:ea typeface="Arial Bold"/>
                          <a:cs typeface="Arial Bold"/>
                          <a:sym typeface="Arial Bold"/>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571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099"/>
                        </a:lnSpc>
                        <a:defRPr/>
                      </a:pPr>
                      <a:r>
                        <a:rPr lang="en-US" sz="1749">
                          <a:solidFill>
                            <a:srgbClr val="032044"/>
                          </a:solidFill>
                          <a:latin typeface="Arial"/>
                          <a:ea typeface="Arial"/>
                          <a:cs typeface="Arial"/>
                          <a:sym typeface="Arial"/>
                        </a:rPr>
                        <a:t>Atención de consultas u orientación brindadas por la Sección de Manifiestos (llamadas, WhatsApp, otros).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459"/>
                        </a:lnSpc>
                        <a:defRPr/>
                      </a:pPr>
                      <a:r>
                        <a:rPr lang="en-US" sz="2049" b="1">
                          <a:solidFill>
                            <a:srgbClr val="032044"/>
                          </a:solidFill>
                          <a:latin typeface="Arial Bold"/>
                          <a:ea typeface="Arial Bold"/>
                          <a:cs typeface="Arial Bold"/>
                          <a:sym typeface="Arial Bold"/>
                        </a:rPr>
                        <a:t>3,92</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vMerge="1">
                  <a:txBody>
                    <a:bodyPr/>
                    <a:lstStyle/>
                    <a:p>
                      <a:pPr algn="ctr">
                        <a:lnSpc>
                          <a:spcPts val="2579"/>
                        </a:lnSpc>
                        <a:defRPr/>
                      </a:pPr>
                      <a:r>
                        <a:rPr lang="en-US" sz="2149" b="1">
                          <a:solidFill>
                            <a:srgbClr val="032044"/>
                          </a:solidFill>
                          <a:latin typeface="Arial Bold"/>
                          <a:ea typeface="Arial Bold"/>
                          <a:cs typeface="Arial Bold"/>
                          <a:sym typeface="Arial Bold"/>
                        </a:rPr>
                        <a:t>3,77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5" name="Freeform 35"/>
          <p:cNvSpPr/>
          <p:nvPr/>
        </p:nvSpPr>
        <p:spPr>
          <a:xfrm>
            <a:off x="15939306" y="4749622"/>
            <a:ext cx="1713005" cy="999249"/>
          </a:xfrm>
          <a:custGeom>
            <a:avLst/>
            <a:gdLst/>
            <a:ahLst/>
            <a:cxnLst/>
            <a:rect l="l" t="t" r="r" b="b"/>
            <a:pathLst>
              <a:path w="1713005" h="999249">
                <a:moveTo>
                  <a:pt x="0" y="0"/>
                </a:moveTo>
                <a:lnTo>
                  <a:pt x="1713005" y="0"/>
                </a:lnTo>
                <a:lnTo>
                  <a:pt x="1713005" y="999249"/>
                </a:lnTo>
                <a:lnTo>
                  <a:pt x="0" y="999249"/>
                </a:lnTo>
                <a:lnTo>
                  <a:pt x="0" y="0"/>
                </a:lnTo>
                <a:close/>
              </a:path>
            </a:pathLst>
          </a:custGeom>
          <a:blipFill>
            <a:blip r:embed="rId3"/>
            <a:stretch>
              <a:fillRect/>
            </a:stretch>
          </a:blipFill>
        </p:spPr>
      </p:sp>
      <p:sp>
        <p:nvSpPr>
          <p:cNvPr id="36" name="Freeform 36"/>
          <p:cNvSpPr/>
          <p:nvPr/>
        </p:nvSpPr>
        <p:spPr>
          <a:xfrm>
            <a:off x="15914942" y="6519462"/>
            <a:ext cx="1761734" cy="1027681"/>
          </a:xfrm>
          <a:custGeom>
            <a:avLst/>
            <a:gdLst/>
            <a:ahLst/>
            <a:cxnLst/>
            <a:rect l="l" t="t" r="r" b="b"/>
            <a:pathLst>
              <a:path w="1761734" h="1027681">
                <a:moveTo>
                  <a:pt x="0" y="0"/>
                </a:moveTo>
                <a:lnTo>
                  <a:pt x="1761734" y="0"/>
                </a:lnTo>
                <a:lnTo>
                  <a:pt x="1761734" y="1027681"/>
                </a:lnTo>
                <a:lnTo>
                  <a:pt x="0" y="1027681"/>
                </a:lnTo>
                <a:lnTo>
                  <a:pt x="0" y="0"/>
                </a:lnTo>
                <a:close/>
              </a:path>
            </a:pathLst>
          </a:custGeom>
          <a:blipFill>
            <a:blip r:embed="rId4"/>
            <a:stretch>
              <a:fillRect t="-38" b="-38"/>
            </a:stretch>
          </a:blipFill>
        </p:spPr>
      </p:sp>
      <p:grpSp>
        <p:nvGrpSpPr>
          <p:cNvPr id="37" name="Group 37"/>
          <p:cNvGrpSpPr/>
          <p:nvPr/>
        </p:nvGrpSpPr>
        <p:grpSpPr>
          <a:xfrm>
            <a:off x="0" y="9623441"/>
            <a:ext cx="18288000" cy="1066800"/>
            <a:chOff x="0" y="0"/>
            <a:chExt cx="24384000" cy="1422400"/>
          </a:xfrm>
        </p:grpSpPr>
        <p:sp>
          <p:nvSpPr>
            <p:cNvPr id="38" name="Freeform 38"/>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39" name="Freeform 39"/>
          <p:cNvSpPr/>
          <p:nvPr/>
        </p:nvSpPr>
        <p:spPr>
          <a:xfrm>
            <a:off x="15707192" y="966405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5">
              <a:extLst>
                <a:ext uri="{96DAC541-7B7A-43D3-8B79-37D633B846F1}">
                  <asvg:svgBlip xmlns:asvg="http://schemas.microsoft.com/office/drawing/2016/SVG/main" r:embed="rId6"/>
                </a:ext>
              </a:extLst>
            </a:blip>
            <a:stretch>
              <a:fillRect l="-126" r="-126"/>
            </a:stretch>
          </a:blipFill>
        </p:spPr>
      </p:sp>
      <p:grpSp>
        <p:nvGrpSpPr>
          <p:cNvPr id="40" name="Group 40"/>
          <p:cNvGrpSpPr/>
          <p:nvPr/>
        </p:nvGrpSpPr>
        <p:grpSpPr>
          <a:xfrm>
            <a:off x="2701709" y="9709166"/>
            <a:ext cx="2846489" cy="861965"/>
            <a:chOff x="0" y="0"/>
            <a:chExt cx="3795319" cy="1149286"/>
          </a:xfrm>
        </p:grpSpPr>
        <p:sp>
          <p:nvSpPr>
            <p:cNvPr id="41" name="Freeform 41"/>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7"/>
              <a:stretch>
                <a:fillRect r="-1" b="5"/>
              </a:stretch>
            </a:blipFill>
          </p:spPr>
        </p:sp>
      </p:grpSp>
      <p:grpSp>
        <p:nvGrpSpPr>
          <p:cNvPr id="42" name="Group 42"/>
          <p:cNvGrpSpPr/>
          <p:nvPr/>
        </p:nvGrpSpPr>
        <p:grpSpPr>
          <a:xfrm>
            <a:off x="426177" y="9709166"/>
            <a:ext cx="1749523" cy="500605"/>
            <a:chOff x="0" y="0"/>
            <a:chExt cx="2332698" cy="667474"/>
          </a:xfrm>
        </p:grpSpPr>
        <p:sp>
          <p:nvSpPr>
            <p:cNvPr id="43" name="Freeform 43"/>
            <p:cNvSpPr/>
            <p:nvPr/>
          </p:nvSpPr>
          <p:spPr>
            <a:xfrm>
              <a:off x="0" y="0"/>
              <a:ext cx="2332736" cy="667512"/>
            </a:xfrm>
            <a:custGeom>
              <a:avLst/>
              <a:gdLst/>
              <a:ahLst/>
              <a:cxnLst/>
              <a:rect l="l" t="t" r="r" b="b"/>
              <a:pathLst>
                <a:path w="2332736" h="667512">
                  <a:moveTo>
                    <a:pt x="0" y="0"/>
                  </a:moveTo>
                  <a:lnTo>
                    <a:pt x="2332736" y="0"/>
                  </a:lnTo>
                  <a:lnTo>
                    <a:pt x="2332736" y="667512"/>
                  </a:lnTo>
                  <a:lnTo>
                    <a:pt x="0" y="667512"/>
                  </a:lnTo>
                  <a:lnTo>
                    <a:pt x="0" y="0"/>
                  </a:lnTo>
                  <a:close/>
                </a:path>
              </a:pathLst>
            </a:custGeom>
            <a:blipFill>
              <a:blip r:embed="rId8"/>
              <a:stretch>
                <a:fillRect r="1" b="5"/>
              </a:stretch>
            </a:blipFill>
          </p:spPr>
        </p:sp>
      </p:grpSp>
      <p:grpSp>
        <p:nvGrpSpPr>
          <p:cNvPr id="44" name="Group 24">
            <a:extLst>
              <a:ext uri="{FF2B5EF4-FFF2-40B4-BE49-F238E27FC236}">
                <a16:creationId xmlns:a16="http://schemas.microsoft.com/office/drawing/2014/main" id="{D1E77465-2589-4E74-91D5-9F99BC17289A}"/>
              </a:ext>
            </a:extLst>
          </p:cNvPr>
          <p:cNvGrpSpPr/>
          <p:nvPr/>
        </p:nvGrpSpPr>
        <p:grpSpPr>
          <a:xfrm>
            <a:off x="-9496" y="1610"/>
            <a:ext cx="1789547" cy="1113206"/>
            <a:chOff x="0" y="0"/>
            <a:chExt cx="2386063" cy="1484274"/>
          </a:xfrm>
        </p:grpSpPr>
        <p:sp>
          <p:nvSpPr>
            <p:cNvPr id="45" name="Freeform 25">
              <a:extLst>
                <a:ext uri="{FF2B5EF4-FFF2-40B4-BE49-F238E27FC236}">
                  <a16:creationId xmlns:a16="http://schemas.microsoft.com/office/drawing/2014/main" id="{7989DE8A-3116-416A-B3CD-74BA8B6A386F}"/>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74641" y="-32223"/>
            <a:ext cx="1101280" cy="207169"/>
            <a:chOff x="0" y="0"/>
            <a:chExt cx="1468374" cy="276225"/>
          </a:xfrm>
        </p:grpSpPr>
        <p:sp>
          <p:nvSpPr>
            <p:cNvPr id="3" name="Freeform 3"/>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sp>
        <p:nvSpPr>
          <p:cNvPr id="4" name="TextBox 4"/>
          <p:cNvSpPr txBox="1"/>
          <p:nvPr/>
        </p:nvSpPr>
        <p:spPr>
          <a:xfrm>
            <a:off x="2299144" y="50997"/>
            <a:ext cx="6207100" cy="807215"/>
          </a:xfrm>
          <a:prstGeom prst="rect">
            <a:avLst/>
          </a:prstGeom>
        </p:spPr>
        <p:txBody>
          <a:bodyPr lIns="0" tIns="0" rIns="0" bIns="0" rtlCol="0" anchor="t">
            <a:spAutoFit/>
          </a:bodyPr>
          <a:lstStyle/>
          <a:p>
            <a:pPr algn="just">
              <a:lnSpc>
                <a:spcPts val="6096"/>
              </a:lnSpc>
            </a:pPr>
            <a:r>
              <a:rPr lang="en-US" sz="4689" b="1">
                <a:solidFill>
                  <a:srgbClr val="B11A3C"/>
                </a:solidFill>
                <a:latin typeface="Roboto Bold"/>
                <a:ea typeface="Roboto Bold"/>
                <a:cs typeface="Roboto Bold"/>
                <a:sym typeface="Roboto Bold"/>
              </a:rPr>
              <a:t>2. Resumen Ejecutivo</a:t>
            </a:r>
          </a:p>
        </p:txBody>
      </p:sp>
      <p:sp>
        <p:nvSpPr>
          <p:cNvPr id="5" name="TextBox 5"/>
          <p:cNvSpPr txBox="1"/>
          <p:nvPr/>
        </p:nvSpPr>
        <p:spPr>
          <a:xfrm>
            <a:off x="2547280" y="1271587"/>
            <a:ext cx="14712020" cy="610362"/>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2.3 Indicadores de Satisfacción por Aspectos en cada Proceso </a:t>
            </a:r>
          </a:p>
        </p:txBody>
      </p:sp>
      <p:sp>
        <p:nvSpPr>
          <p:cNvPr id="31" name="TextBox 31"/>
          <p:cNvSpPr txBox="1"/>
          <p:nvPr/>
        </p:nvSpPr>
        <p:spPr>
          <a:xfrm>
            <a:off x="1112549" y="8496691"/>
            <a:ext cx="14927132"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*Este indicador se calcula sobre la base del promedio simple no ponderado de las respuestas por cada subproceso</a:t>
            </a:r>
          </a:p>
        </p:txBody>
      </p:sp>
      <p:graphicFrame>
        <p:nvGraphicFramePr>
          <p:cNvPr id="32" name="Table 32"/>
          <p:cNvGraphicFramePr>
            <a:graphicFrameLocks noGrp="1"/>
          </p:cNvGraphicFramePr>
          <p:nvPr/>
        </p:nvGraphicFramePr>
        <p:xfrm>
          <a:off x="1112544" y="1951525"/>
          <a:ext cx="16776700" cy="6286500"/>
        </p:xfrm>
        <a:graphic>
          <a:graphicData uri="http://schemas.openxmlformats.org/drawingml/2006/table">
            <a:tbl>
              <a:tblPr/>
              <a:tblGrid>
                <a:gridCol w="3604243">
                  <a:extLst>
                    <a:ext uri="{9D8B030D-6E8A-4147-A177-3AD203B41FA5}">
                      <a16:colId xmlns:a16="http://schemas.microsoft.com/office/drawing/2014/main" val="20000"/>
                    </a:ext>
                  </a:extLst>
                </a:gridCol>
                <a:gridCol w="2653173">
                  <a:extLst>
                    <a:ext uri="{9D8B030D-6E8A-4147-A177-3AD203B41FA5}">
                      <a16:colId xmlns:a16="http://schemas.microsoft.com/office/drawing/2014/main" val="20001"/>
                    </a:ext>
                  </a:extLst>
                </a:gridCol>
                <a:gridCol w="2629821">
                  <a:extLst>
                    <a:ext uri="{9D8B030D-6E8A-4147-A177-3AD203B41FA5}">
                      <a16:colId xmlns:a16="http://schemas.microsoft.com/office/drawing/2014/main" val="20002"/>
                    </a:ext>
                  </a:extLst>
                </a:gridCol>
                <a:gridCol w="2629821">
                  <a:extLst>
                    <a:ext uri="{9D8B030D-6E8A-4147-A177-3AD203B41FA5}">
                      <a16:colId xmlns:a16="http://schemas.microsoft.com/office/drawing/2014/main" val="20003"/>
                    </a:ext>
                  </a:extLst>
                </a:gridCol>
                <a:gridCol w="2629821">
                  <a:extLst>
                    <a:ext uri="{9D8B030D-6E8A-4147-A177-3AD203B41FA5}">
                      <a16:colId xmlns:a16="http://schemas.microsoft.com/office/drawing/2014/main" val="20004"/>
                    </a:ext>
                  </a:extLst>
                </a:gridCol>
                <a:gridCol w="2629821">
                  <a:extLst>
                    <a:ext uri="{9D8B030D-6E8A-4147-A177-3AD203B41FA5}">
                      <a16:colId xmlns:a16="http://schemas.microsoft.com/office/drawing/2014/main" val="20005"/>
                    </a:ext>
                  </a:extLst>
                </a:gridCol>
              </a:tblGrid>
              <a:tr h="1257300">
                <a:tc rowSpan="2">
                  <a:txBody>
                    <a:bodyPr/>
                    <a:lstStyle/>
                    <a:p>
                      <a:pPr algn="ctr">
                        <a:lnSpc>
                          <a:spcPts val="2699"/>
                        </a:lnSpc>
                        <a:defRPr/>
                      </a:pPr>
                      <a:r>
                        <a:rPr lang="en-US" sz="2249" b="1">
                          <a:solidFill>
                            <a:srgbClr val="FFFFFF"/>
                          </a:solidFill>
                          <a:latin typeface="Arial Bold"/>
                          <a:ea typeface="Arial Bold"/>
                          <a:cs typeface="Arial Bold"/>
                          <a:sym typeface="Arial Bold"/>
                        </a:rPr>
                        <a:t>Procesos del Sistema Integrado de Gestión</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rowSpan="2">
                  <a:txBody>
                    <a:bodyPr/>
                    <a:lstStyle/>
                    <a:p>
                      <a:pPr algn="ctr">
                        <a:lnSpc>
                          <a:spcPts val="2339"/>
                        </a:lnSpc>
                        <a:defRPr/>
                      </a:pPr>
                      <a:r>
                        <a:rPr lang="en-US" sz="1949" b="1">
                          <a:solidFill>
                            <a:srgbClr val="FFFFFF"/>
                          </a:solidFill>
                          <a:latin typeface="Arial Bold"/>
                          <a:ea typeface="Arial Bold"/>
                          <a:cs typeface="Arial Bold"/>
                          <a:sym typeface="Arial Bold"/>
                        </a:rPr>
                        <a:t>Indicador General de Satisfacción Declarada*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C45D5D"/>
                    </a:solidFill>
                  </a:tcPr>
                </a:tc>
                <a:tc gridSpan="4">
                  <a:txBody>
                    <a:bodyPr/>
                    <a:lstStyle/>
                    <a:p>
                      <a:pPr algn="ctr">
                        <a:lnSpc>
                          <a:spcPts val="2699"/>
                        </a:lnSpc>
                        <a:defRPr/>
                      </a:pPr>
                      <a:r>
                        <a:rPr lang="en-US" sz="2249" b="1">
                          <a:solidFill>
                            <a:srgbClr val="FFFFFF"/>
                          </a:solidFill>
                          <a:latin typeface="Arial Bold"/>
                          <a:ea typeface="Arial Bold"/>
                          <a:cs typeface="Arial Bold"/>
                          <a:sym typeface="Arial Bold"/>
                        </a:rPr>
                        <a:t>Satisfacción Estimada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hMerge="1">
                  <a:txBody>
                    <a:bodyPr/>
                    <a:lstStyle/>
                    <a:p>
                      <a:pPr algn="ctr">
                        <a:lnSpc>
                          <a:spcPts val="2699"/>
                        </a:lnSpc>
                        <a:defRPr/>
                      </a:pPr>
                      <a:r>
                        <a:rPr lang="en-US" sz="2249" b="1">
                          <a:solidFill>
                            <a:srgbClr val="FFFFFF"/>
                          </a:solidFill>
                          <a:latin typeface="Arial Bold"/>
                          <a:ea typeface="Arial Bold"/>
                          <a:cs typeface="Arial Bold"/>
                          <a:sym typeface="Arial Bold"/>
                        </a:rPr>
                        <a:t>Satisfacción Estimada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hMerge="1">
                  <a:txBody>
                    <a:bodyPr/>
                    <a:lstStyle/>
                    <a:p>
                      <a:pPr algn="ctr">
                        <a:lnSpc>
                          <a:spcPts val="2699"/>
                        </a:lnSpc>
                        <a:defRPr/>
                      </a:pPr>
                      <a:r>
                        <a:rPr lang="en-US" sz="2249" b="1">
                          <a:solidFill>
                            <a:srgbClr val="FFFFFF"/>
                          </a:solidFill>
                          <a:latin typeface="Arial Bold"/>
                          <a:ea typeface="Arial Bold"/>
                          <a:cs typeface="Arial Bold"/>
                          <a:sym typeface="Arial Bold"/>
                        </a:rPr>
                        <a:t>Satisfacción Estimada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hMerge="1">
                  <a:txBody>
                    <a:bodyPr/>
                    <a:lstStyle/>
                    <a:p>
                      <a:pPr algn="ctr">
                        <a:lnSpc>
                          <a:spcPts val="2699"/>
                        </a:lnSpc>
                        <a:defRPr/>
                      </a:pPr>
                      <a:r>
                        <a:rPr lang="en-US" sz="2249" b="1">
                          <a:solidFill>
                            <a:srgbClr val="FFFFFF"/>
                          </a:solidFill>
                          <a:latin typeface="Arial Bold"/>
                          <a:ea typeface="Arial Bold"/>
                          <a:cs typeface="Arial Bold"/>
                          <a:sym typeface="Arial Bold"/>
                        </a:rPr>
                        <a:t>Satisfacción Estimada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0"/>
                  </a:ext>
                </a:extLst>
              </a:tr>
              <a:tr h="1257300">
                <a:tc vMerge="1">
                  <a:txBody>
                    <a:bodyPr/>
                    <a:lstStyle/>
                    <a:p>
                      <a:pPr algn="ctr">
                        <a:lnSpc>
                          <a:spcPts val="2699"/>
                        </a:lnSpc>
                        <a:defRPr/>
                      </a:pPr>
                      <a:r>
                        <a:rPr lang="en-US" sz="2249" b="1">
                          <a:solidFill>
                            <a:srgbClr val="FFFFFF"/>
                          </a:solidFill>
                          <a:latin typeface="Arial Bold"/>
                          <a:ea typeface="Arial Bold"/>
                          <a:cs typeface="Arial Bold"/>
                          <a:sym typeface="Arial Bold"/>
                        </a:rPr>
                        <a:t>Procesos del Sistema Integrado de Gestión</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vMerge="1">
                  <a:txBody>
                    <a:bodyPr/>
                    <a:lstStyle/>
                    <a:p>
                      <a:pPr algn="ctr">
                        <a:lnSpc>
                          <a:spcPts val="2339"/>
                        </a:lnSpc>
                        <a:defRPr/>
                      </a:pPr>
                      <a:r>
                        <a:rPr lang="en-US" sz="1949" b="1">
                          <a:solidFill>
                            <a:srgbClr val="FFFFFF"/>
                          </a:solidFill>
                          <a:latin typeface="Arial Bold"/>
                          <a:ea typeface="Arial Bold"/>
                          <a:cs typeface="Arial Bold"/>
                          <a:sym typeface="Arial Bold"/>
                        </a:rPr>
                        <a:t>Indicador General de Satisfacción Declarada*</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C45D5D"/>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Total Satisfacción Estimada **</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Disponibilidad</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Efectividad</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tc>
                  <a:txBody>
                    <a:bodyPr/>
                    <a:lstStyle/>
                    <a:p>
                      <a:pPr algn="ctr">
                        <a:lnSpc>
                          <a:spcPts val="2099"/>
                        </a:lnSpc>
                        <a:defRPr/>
                      </a:pPr>
                      <a:r>
                        <a:rPr lang="en-US" sz="1749" b="1">
                          <a:solidFill>
                            <a:srgbClr val="FFFFFF"/>
                          </a:solidFill>
                          <a:latin typeface="Arial Bold"/>
                          <a:ea typeface="Arial Bold"/>
                          <a:cs typeface="Arial Bold"/>
                          <a:sym typeface="Arial Bold"/>
                        </a:rPr>
                        <a:t>Gestión del Conocimiento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195AA3"/>
                    </a:solidFill>
                  </a:tcPr>
                </a:tc>
                <a:extLst>
                  <a:ext uri="{0D108BD9-81ED-4DB2-BD59-A6C34878D82A}">
                    <a16:rowId xmlns:a16="http://schemas.microsoft.com/office/drawing/2014/main" val="10001"/>
                  </a:ext>
                </a:extLst>
              </a:tr>
              <a:tr h="1257300">
                <a:tc>
                  <a:txBody>
                    <a:bodyPr/>
                    <a:lstStyle/>
                    <a:p>
                      <a:pPr algn="l">
                        <a:lnSpc>
                          <a:spcPts val="2459"/>
                        </a:lnSpc>
                        <a:defRPr/>
                      </a:pPr>
                      <a:r>
                        <a:rPr lang="en-US" sz="2049">
                          <a:solidFill>
                            <a:srgbClr val="032044"/>
                          </a:solidFill>
                          <a:latin typeface="Arial"/>
                          <a:ea typeface="Arial"/>
                          <a:cs typeface="Arial"/>
                          <a:sym typeface="Arial"/>
                        </a:rPr>
                        <a:t>NA -03 CONTROL DE INGRESO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4EBEB"/>
                    </a:solidFill>
                  </a:tcPr>
                </a:tc>
                <a:tc>
                  <a:txBody>
                    <a:bodyPr/>
                    <a:lstStyle/>
                    <a:p>
                      <a:pPr algn="ctr">
                        <a:lnSpc>
                          <a:spcPts val="2579"/>
                        </a:lnSpc>
                        <a:defRPr/>
                      </a:pPr>
                      <a:r>
                        <a:rPr lang="en-US" sz="2149" b="1">
                          <a:solidFill>
                            <a:srgbClr val="032044"/>
                          </a:solidFill>
                          <a:latin typeface="Arial Bold"/>
                          <a:ea typeface="Arial Bold"/>
                          <a:cs typeface="Arial Bold"/>
                          <a:sym typeface="Arial Bold"/>
                        </a:rPr>
                        <a:t>3,93</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4,00</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3,89</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2"/>
                  </a:ext>
                </a:extLst>
              </a:tr>
              <a:tr h="1257300">
                <a:tc>
                  <a:txBody>
                    <a:bodyPr/>
                    <a:lstStyle/>
                    <a:p>
                      <a:pPr algn="just">
                        <a:lnSpc>
                          <a:spcPts val="2579"/>
                        </a:lnSpc>
                        <a:defRPr/>
                      </a:pPr>
                      <a:r>
                        <a:rPr lang="en-US" sz="2149">
                          <a:solidFill>
                            <a:srgbClr val="032044"/>
                          </a:solidFill>
                          <a:latin typeface="Arial"/>
                          <a:ea typeface="Arial"/>
                          <a:cs typeface="Arial"/>
                          <a:sym typeface="Arial"/>
                        </a:rPr>
                        <a:t>NA-04 CONTROL DE SALIDA DE MERCANCIAS</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3,77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4EBEB"/>
                    </a:solidFill>
                  </a:tcPr>
                </a:tc>
                <a:tc>
                  <a:txBody>
                    <a:bodyPr/>
                    <a:lstStyle/>
                    <a:p>
                      <a:pPr algn="ctr">
                        <a:lnSpc>
                          <a:spcPts val="2579"/>
                        </a:lnSpc>
                        <a:defRPr/>
                      </a:pPr>
                      <a:r>
                        <a:rPr lang="en-US" sz="2149" b="1">
                          <a:solidFill>
                            <a:srgbClr val="032044"/>
                          </a:solidFill>
                          <a:latin typeface="Arial Bold"/>
                          <a:ea typeface="Arial Bold"/>
                          <a:cs typeface="Arial Bold"/>
                          <a:sym typeface="Arial Bold"/>
                        </a:rPr>
                        <a:t>3,67</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3,62</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3,85</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a:solidFill>
                            <a:srgbClr val="032044"/>
                          </a:solidFill>
                          <a:latin typeface="Arial"/>
                          <a:ea typeface="Arial"/>
                          <a:cs typeface="Arial"/>
                          <a:sym typeface="Arial"/>
                        </a:rPr>
                        <a:t>3,54</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3"/>
                  </a:ext>
                </a:extLst>
              </a:tr>
              <a:tr h="1257300">
                <a:tc>
                  <a:txBody>
                    <a:bodyPr/>
                    <a:lstStyle/>
                    <a:p>
                      <a:pPr algn="ctr">
                        <a:lnSpc>
                          <a:spcPts val="2579"/>
                        </a:lnSpc>
                        <a:defRPr/>
                      </a:pPr>
                      <a:r>
                        <a:rPr lang="en-US" sz="2149" b="1">
                          <a:solidFill>
                            <a:srgbClr val="032044"/>
                          </a:solidFill>
                          <a:latin typeface="Arial Bold"/>
                          <a:ea typeface="Arial Bold"/>
                          <a:cs typeface="Arial Bold"/>
                          <a:sym typeface="Arial Bold"/>
                        </a:rPr>
                        <a:t>PROMEDIO</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3,83</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4EBEB"/>
                    </a:solidFill>
                  </a:tcPr>
                </a:tc>
                <a:tc>
                  <a:txBody>
                    <a:bodyPr/>
                    <a:lstStyle/>
                    <a:p>
                      <a:pPr algn="ctr">
                        <a:lnSpc>
                          <a:spcPts val="2579"/>
                        </a:lnSpc>
                        <a:defRPr/>
                      </a:pPr>
                      <a:r>
                        <a:rPr lang="en-US" sz="2149" b="1">
                          <a:solidFill>
                            <a:srgbClr val="032044"/>
                          </a:solidFill>
                          <a:latin typeface="Arial Bold"/>
                          <a:ea typeface="Arial Bold"/>
                          <a:cs typeface="Arial Bold"/>
                          <a:sym typeface="Arial Bold"/>
                        </a:rPr>
                        <a:t>3,8</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3,76</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3,93</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tc>
                  <a:txBody>
                    <a:bodyPr/>
                    <a:lstStyle/>
                    <a:p>
                      <a:pPr algn="ctr">
                        <a:lnSpc>
                          <a:spcPts val="2579"/>
                        </a:lnSpc>
                        <a:defRPr/>
                      </a:pPr>
                      <a:r>
                        <a:rPr lang="en-US" sz="2149" b="1">
                          <a:solidFill>
                            <a:srgbClr val="032044"/>
                          </a:solidFill>
                          <a:latin typeface="Arial Bold"/>
                          <a:ea typeface="Arial Bold"/>
                          <a:cs typeface="Arial Bold"/>
                          <a:sym typeface="Arial Bold"/>
                        </a:rPr>
                        <a:t>3,72</a:t>
                      </a: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33" name="Group 33"/>
          <p:cNvGrpSpPr/>
          <p:nvPr/>
        </p:nvGrpSpPr>
        <p:grpSpPr>
          <a:xfrm>
            <a:off x="0" y="9623441"/>
            <a:ext cx="18288000" cy="1066800"/>
            <a:chOff x="0" y="0"/>
            <a:chExt cx="24384000" cy="1422400"/>
          </a:xfrm>
        </p:grpSpPr>
        <p:sp>
          <p:nvSpPr>
            <p:cNvPr id="34" name="Freeform 34"/>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35" name="Freeform 35"/>
          <p:cNvSpPr/>
          <p:nvPr/>
        </p:nvSpPr>
        <p:spPr>
          <a:xfrm>
            <a:off x="15707192" y="966405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36" name="Group 36"/>
          <p:cNvGrpSpPr/>
          <p:nvPr/>
        </p:nvGrpSpPr>
        <p:grpSpPr>
          <a:xfrm>
            <a:off x="2701709" y="9709166"/>
            <a:ext cx="2846489" cy="861965"/>
            <a:chOff x="0" y="0"/>
            <a:chExt cx="3795319" cy="1149286"/>
          </a:xfrm>
        </p:grpSpPr>
        <p:sp>
          <p:nvSpPr>
            <p:cNvPr id="37" name="Freeform 37"/>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38" name="Group 38"/>
          <p:cNvGrpSpPr/>
          <p:nvPr/>
        </p:nvGrpSpPr>
        <p:grpSpPr>
          <a:xfrm>
            <a:off x="426177" y="9709166"/>
            <a:ext cx="1749523" cy="500605"/>
            <a:chOff x="0" y="0"/>
            <a:chExt cx="2332698" cy="667474"/>
          </a:xfrm>
        </p:grpSpPr>
        <p:sp>
          <p:nvSpPr>
            <p:cNvPr id="39" name="Freeform 39"/>
            <p:cNvSpPr/>
            <p:nvPr/>
          </p:nvSpPr>
          <p:spPr>
            <a:xfrm>
              <a:off x="0" y="0"/>
              <a:ext cx="2332736" cy="667512"/>
            </a:xfrm>
            <a:custGeom>
              <a:avLst/>
              <a:gdLst/>
              <a:ahLst/>
              <a:cxnLst/>
              <a:rect l="l" t="t" r="r" b="b"/>
              <a:pathLst>
                <a:path w="2332736" h="667512">
                  <a:moveTo>
                    <a:pt x="0" y="0"/>
                  </a:moveTo>
                  <a:lnTo>
                    <a:pt x="2332736" y="0"/>
                  </a:lnTo>
                  <a:lnTo>
                    <a:pt x="2332736" y="667512"/>
                  </a:lnTo>
                  <a:lnTo>
                    <a:pt x="0" y="667512"/>
                  </a:lnTo>
                  <a:lnTo>
                    <a:pt x="0" y="0"/>
                  </a:lnTo>
                  <a:close/>
                </a:path>
              </a:pathLst>
            </a:custGeom>
            <a:blipFill>
              <a:blip r:embed="rId6"/>
              <a:stretch>
                <a:fillRect r="1" b="5"/>
              </a:stretch>
            </a:blipFill>
          </p:spPr>
        </p:sp>
      </p:grpSp>
      <p:sp>
        <p:nvSpPr>
          <p:cNvPr id="40" name="TextBox 40"/>
          <p:cNvSpPr txBox="1"/>
          <p:nvPr/>
        </p:nvSpPr>
        <p:spPr>
          <a:xfrm>
            <a:off x="1112549" y="9029833"/>
            <a:ext cx="14752549" cy="399783"/>
          </a:xfrm>
          <a:prstGeom prst="rect">
            <a:avLst/>
          </a:prstGeom>
        </p:spPr>
        <p:txBody>
          <a:bodyPr lIns="0" tIns="0" rIns="0" bIns="0" rtlCol="0" anchor="t">
            <a:spAutoFit/>
          </a:bodyPr>
          <a:lstStyle/>
          <a:p>
            <a:pPr algn="just">
              <a:lnSpc>
                <a:spcPts val="2951"/>
              </a:lnSpc>
            </a:pPr>
            <a:r>
              <a:rPr lang="en-US" sz="2270">
                <a:solidFill>
                  <a:srgbClr val="3F62A2"/>
                </a:solidFill>
                <a:latin typeface="Roboto"/>
                <a:ea typeface="Roboto"/>
                <a:cs typeface="Roboto"/>
                <a:sym typeface="Roboto"/>
              </a:rPr>
              <a:t>**Este indicador se calcula sobre la base del promedio simple no ponderado de las respuestas por cada aspecto</a:t>
            </a:r>
          </a:p>
        </p:txBody>
      </p:sp>
      <p:grpSp>
        <p:nvGrpSpPr>
          <p:cNvPr id="41" name="Group 24">
            <a:extLst>
              <a:ext uri="{FF2B5EF4-FFF2-40B4-BE49-F238E27FC236}">
                <a16:creationId xmlns:a16="http://schemas.microsoft.com/office/drawing/2014/main" id="{FBB9C710-1E98-4B1F-A7AD-6F6FD3428B2B}"/>
              </a:ext>
            </a:extLst>
          </p:cNvPr>
          <p:cNvGrpSpPr/>
          <p:nvPr/>
        </p:nvGrpSpPr>
        <p:grpSpPr>
          <a:xfrm>
            <a:off x="-9496" y="1610"/>
            <a:ext cx="1789547" cy="1113206"/>
            <a:chOff x="0" y="0"/>
            <a:chExt cx="2386063" cy="1484274"/>
          </a:xfrm>
        </p:grpSpPr>
        <p:sp>
          <p:nvSpPr>
            <p:cNvPr id="42" name="Freeform 25">
              <a:extLst>
                <a:ext uri="{FF2B5EF4-FFF2-40B4-BE49-F238E27FC236}">
                  <a16:creationId xmlns:a16="http://schemas.microsoft.com/office/drawing/2014/main" id="{5538A787-8CA2-4BA0-A9D5-CF27B1DFABCC}"/>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36" name="Freeform 36"/>
          <p:cNvSpPr/>
          <p:nvPr/>
        </p:nvSpPr>
        <p:spPr>
          <a:xfrm>
            <a:off x="12744990" y="6183443"/>
            <a:ext cx="2448442" cy="719540"/>
          </a:xfrm>
          <a:custGeom>
            <a:avLst/>
            <a:gdLst/>
            <a:ahLst/>
            <a:cxnLst/>
            <a:rect l="l" t="t" r="r" b="b"/>
            <a:pathLst>
              <a:path w="2448442" h="719540">
                <a:moveTo>
                  <a:pt x="0" y="0"/>
                </a:moveTo>
                <a:lnTo>
                  <a:pt x="2448442" y="0"/>
                </a:lnTo>
                <a:lnTo>
                  <a:pt x="2448442" y="719540"/>
                </a:lnTo>
                <a:lnTo>
                  <a:pt x="0" y="7195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7" name="Group 37"/>
          <p:cNvGrpSpPr/>
          <p:nvPr/>
        </p:nvGrpSpPr>
        <p:grpSpPr>
          <a:xfrm>
            <a:off x="12799238" y="6165361"/>
            <a:ext cx="2339950" cy="683371"/>
            <a:chOff x="0" y="0"/>
            <a:chExt cx="3119933" cy="911162"/>
          </a:xfrm>
        </p:grpSpPr>
        <p:sp>
          <p:nvSpPr>
            <p:cNvPr id="38" name="Freeform 38"/>
            <p:cNvSpPr/>
            <p:nvPr/>
          </p:nvSpPr>
          <p:spPr>
            <a:xfrm>
              <a:off x="0" y="0"/>
              <a:ext cx="3119928" cy="911166"/>
            </a:xfrm>
            <a:custGeom>
              <a:avLst/>
              <a:gdLst/>
              <a:ahLst/>
              <a:cxnLst/>
              <a:rect l="l" t="t" r="r" b="b"/>
              <a:pathLst>
                <a:path w="3119928" h="911166">
                  <a:moveTo>
                    <a:pt x="0" y="0"/>
                  </a:moveTo>
                  <a:lnTo>
                    <a:pt x="3119928" y="0"/>
                  </a:lnTo>
                  <a:lnTo>
                    <a:pt x="3119928" y="911166"/>
                  </a:lnTo>
                  <a:lnTo>
                    <a:pt x="0" y="911166"/>
                  </a:lnTo>
                  <a:close/>
                </a:path>
              </a:pathLst>
            </a:custGeom>
            <a:solidFill>
              <a:srgbClr val="000000">
                <a:alpha val="0"/>
              </a:srgbClr>
            </a:solidFill>
            <a:ln w="12700">
              <a:noFill/>
            </a:ln>
          </p:spPr>
        </p:sp>
        <p:sp>
          <p:nvSpPr>
            <p:cNvPr id="39" name="TextBox 39"/>
            <p:cNvSpPr txBox="1"/>
            <p:nvPr/>
          </p:nvSpPr>
          <p:spPr>
            <a:xfrm>
              <a:off x="0" y="-19050"/>
              <a:ext cx="3119933" cy="930212"/>
            </a:xfrm>
            <a:prstGeom prst="rect">
              <a:avLst/>
            </a:prstGeom>
            <a:ln>
              <a:noFill/>
            </a:ln>
          </p:spPr>
          <p:txBody>
            <a:bodyPr lIns="0" tIns="0" rIns="0" bIns="0" rtlCol="0" anchor="ctr"/>
            <a:lstStyle/>
            <a:p>
              <a:pPr algn="ctr">
                <a:lnSpc>
                  <a:spcPts val="1781"/>
                </a:lnSpc>
              </a:pPr>
              <a:r>
                <a:rPr lang="en-US" sz="1370">
                  <a:solidFill>
                    <a:srgbClr val="032044"/>
                  </a:solidFill>
                  <a:latin typeface="Roboto"/>
                  <a:ea typeface="Roboto"/>
                  <a:cs typeface="Roboto"/>
                  <a:sym typeface="Roboto"/>
                </a:rPr>
                <a:t>Sección de Manifiestos</a:t>
              </a:r>
            </a:p>
            <a:p>
              <a:pPr algn="ctr">
                <a:lnSpc>
                  <a:spcPts val="1781"/>
                </a:lnSpc>
              </a:pPr>
              <a:r>
                <a:rPr lang="en-US" sz="1370" b="1">
                  <a:solidFill>
                    <a:srgbClr val="032044"/>
                  </a:solidFill>
                  <a:latin typeface="Roboto Bold"/>
                  <a:ea typeface="Roboto Bold"/>
                  <a:cs typeface="Roboto Bold"/>
                  <a:sym typeface="Roboto Bold"/>
                </a:rPr>
                <a:t>3,82</a:t>
              </a:r>
            </a:p>
          </p:txBody>
        </p:sp>
      </p:grpSp>
      <p:sp>
        <p:nvSpPr>
          <p:cNvPr id="40" name="TextBox 40"/>
          <p:cNvSpPr txBox="1"/>
          <p:nvPr/>
        </p:nvSpPr>
        <p:spPr>
          <a:xfrm>
            <a:off x="2231660" y="1057646"/>
            <a:ext cx="15682027" cy="5405923"/>
          </a:xfrm>
          <a:prstGeom prst="rect">
            <a:avLst/>
          </a:prstGeom>
        </p:spPr>
        <p:txBody>
          <a:bodyPr lIns="0" tIns="0" rIns="0" bIns="0" rtlCol="0" anchor="t">
            <a:spAutoFit/>
          </a:bodyPr>
          <a:lstStyle/>
          <a:p>
            <a:pPr marL="505987" lvl="2" indent="-168662" algn="just">
              <a:lnSpc>
                <a:spcPts val="2877"/>
              </a:lnSpc>
              <a:buFont typeface="Arial"/>
              <a:buChar char="⚬"/>
            </a:pPr>
            <a:r>
              <a:rPr lang="en-US" sz="2213">
                <a:solidFill>
                  <a:srgbClr val="3F62A2"/>
                </a:solidFill>
                <a:latin typeface="Roboto"/>
                <a:ea typeface="Roboto"/>
                <a:cs typeface="Roboto"/>
                <a:sym typeface="Roboto"/>
              </a:rPr>
              <a:t>El promedio general de satisfacción para la Sección de Manifiestos de la Intendencia de Aduana de Tacna es de </a:t>
            </a:r>
            <a:r>
              <a:rPr lang="en-US" sz="2213" b="1">
                <a:solidFill>
                  <a:srgbClr val="3F62A2"/>
                </a:solidFill>
                <a:latin typeface="Roboto Bold"/>
                <a:ea typeface="Roboto Bold"/>
                <a:cs typeface="Roboto Bold"/>
                <a:sym typeface="Roboto Bold"/>
              </a:rPr>
              <a:t>3.84 para el control de ingreso de mercancías</a:t>
            </a:r>
            <a:r>
              <a:rPr lang="en-US" sz="2213">
                <a:solidFill>
                  <a:srgbClr val="3F62A2"/>
                </a:solidFill>
                <a:latin typeface="Roboto"/>
                <a:ea typeface="Roboto"/>
                <a:cs typeface="Roboto"/>
                <a:sym typeface="Roboto"/>
              </a:rPr>
              <a:t> y de </a:t>
            </a:r>
            <a:r>
              <a:rPr lang="en-US" sz="2213" b="1">
                <a:solidFill>
                  <a:srgbClr val="3F62A2"/>
                </a:solidFill>
                <a:latin typeface="Roboto Bold"/>
                <a:ea typeface="Roboto Bold"/>
                <a:cs typeface="Roboto Bold"/>
                <a:sym typeface="Roboto Bold"/>
              </a:rPr>
              <a:t>3.71 para el control de salida</a:t>
            </a:r>
            <a:r>
              <a:rPr lang="en-US" sz="2213">
                <a:solidFill>
                  <a:srgbClr val="3F62A2"/>
                </a:solidFill>
                <a:latin typeface="Roboto"/>
                <a:ea typeface="Roboto"/>
                <a:cs typeface="Roboto"/>
                <a:sym typeface="Roboto"/>
              </a:rPr>
              <a:t>, lo que indica un nivel de satisfacción estimado que se encuentra entre "</a:t>
            </a:r>
            <a:r>
              <a:rPr lang="en-US" sz="2213" b="1">
                <a:solidFill>
                  <a:srgbClr val="3F62A2"/>
                </a:solidFill>
                <a:latin typeface="Roboto Bold"/>
                <a:ea typeface="Roboto Bold"/>
                <a:cs typeface="Roboto Bold"/>
                <a:sym typeface="Roboto Bold"/>
              </a:rPr>
              <a:t>Neutral" y "Satisfecho"</a:t>
            </a:r>
            <a:r>
              <a:rPr lang="en-US" sz="2213">
                <a:solidFill>
                  <a:srgbClr val="3F62A2"/>
                </a:solidFill>
                <a:latin typeface="Roboto"/>
                <a:ea typeface="Roboto"/>
                <a:cs typeface="Roboto"/>
                <a:sym typeface="Roboto"/>
              </a:rPr>
              <a:t> según la escala de Likert utilizada.</a:t>
            </a:r>
          </a:p>
          <a:p>
            <a:pPr marL="505987" lvl="2" indent="-168662" algn="just">
              <a:lnSpc>
                <a:spcPts val="2877"/>
              </a:lnSpc>
            </a:pPr>
            <a:endParaRPr lang="en-US" sz="2213">
              <a:solidFill>
                <a:srgbClr val="3F62A2"/>
              </a:solidFill>
              <a:latin typeface="Roboto"/>
              <a:ea typeface="Roboto"/>
              <a:cs typeface="Roboto"/>
              <a:sym typeface="Roboto"/>
            </a:endParaRPr>
          </a:p>
          <a:p>
            <a:pPr marL="505987" lvl="2" indent="-168662" algn="just">
              <a:lnSpc>
                <a:spcPts val="2877"/>
              </a:lnSpc>
              <a:buFont typeface="Arial"/>
              <a:buChar char="⚬"/>
            </a:pPr>
            <a:r>
              <a:rPr lang="en-US" sz="2213">
                <a:solidFill>
                  <a:srgbClr val="3F62A2"/>
                </a:solidFill>
                <a:latin typeface="Roboto"/>
                <a:ea typeface="Roboto"/>
                <a:cs typeface="Roboto"/>
                <a:sym typeface="Roboto"/>
              </a:rPr>
              <a:t>La </a:t>
            </a:r>
            <a:r>
              <a:rPr lang="en-US" sz="2213" b="1">
                <a:solidFill>
                  <a:srgbClr val="3F62A2"/>
                </a:solidFill>
                <a:latin typeface="Roboto Bold"/>
                <a:ea typeface="Roboto Bold"/>
                <a:cs typeface="Roboto Bold"/>
                <a:sym typeface="Roboto Bold"/>
              </a:rPr>
              <a:t>atención de consultas y orientación es consistentemente el subproceso mejor valorado</a:t>
            </a:r>
            <a:r>
              <a:rPr lang="en-US" sz="2213">
                <a:solidFill>
                  <a:srgbClr val="3F62A2"/>
                </a:solidFill>
                <a:latin typeface="Roboto"/>
                <a:ea typeface="Roboto"/>
                <a:cs typeface="Roboto"/>
                <a:sym typeface="Roboto"/>
              </a:rPr>
              <a:t>, obteniendo puntajes de 4.11 en el control de ingreso y 3.92 en el control de salida.</a:t>
            </a:r>
          </a:p>
          <a:p>
            <a:pPr marL="505987" lvl="2" indent="-168662" algn="just">
              <a:lnSpc>
                <a:spcPts val="2877"/>
              </a:lnSpc>
            </a:pPr>
            <a:endParaRPr lang="en-US" sz="2213">
              <a:solidFill>
                <a:srgbClr val="3F62A2"/>
              </a:solidFill>
              <a:latin typeface="Roboto"/>
              <a:ea typeface="Roboto"/>
              <a:cs typeface="Roboto"/>
              <a:sym typeface="Roboto"/>
            </a:endParaRPr>
          </a:p>
          <a:p>
            <a:pPr marL="505987" lvl="2" indent="-168662" algn="just">
              <a:lnSpc>
                <a:spcPts val="2877"/>
              </a:lnSpc>
              <a:buFont typeface="Arial"/>
              <a:buChar char="⚬"/>
            </a:pPr>
            <a:r>
              <a:rPr lang="en-US" sz="2213">
                <a:solidFill>
                  <a:srgbClr val="3F62A2"/>
                </a:solidFill>
                <a:latin typeface="Roboto"/>
                <a:ea typeface="Roboto"/>
                <a:cs typeface="Roboto"/>
                <a:sym typeface="Roboto"/>
              </a:rPr>
              <a:t>La dimensión de </a:t>
            </a:r>
            <a:r>
              <a:rPr lang="en-US" sz="2213" b="1">
                <a:solidFill>
                  <a:srgbClr val="3F62A2"/>
                </a:solidFill>
                <a:latin typeface="Roboto Bold"/>
                <a:ea typeface="Roboto Bold"/>
                <a:cs typeface="Roboto Bold"/>
                <a:sym typeface="Roboto Bold"/>
              </a:rPr>
              <a:t>"Gestión del Conocimiento" es la peor valorada en ambos procesos</a:t>
            </a:r>
            <a:r>
              <a:rPr lang="en-US" sz="2213">
                <a:solidFill>
                  <a:srgbClr val="3F62A2"/>
                </a:solidFill>
                <a:latin typeface="Roboto"/>
                <a:ea typeface="Roboto"/>
                <a:cs typeface="Roboto"/>
                <a:sym typeface="Roboto"/>
              </a:rPr>
              <a:t>, con puntajes de 3.89 en el control de ingreso y 3.54 en el control de salida, lo que indica una posible área de mejora en cuanto a la capacitación, actualización y acceso a la información.</a:t>
            </a:r>
          </a:p>
          <a:p>
            <a:pPr marL="505987" lvl="2" indent="-168662" algn="just">
              <a:lnSpc>
                <a:spcPts val="2877"/>
              </a:lnSpc>
            </a:pPr>
            <a:endParaRPr lang="en-US" sz="2213">
              <a:solidFill>
                <a:srgbClr val="3F62A2"/>
              </a:solidFill>
              <a:latin typeface="Roboto"/>
              <a:ea typeface="Roboto"/>
              <a:cs typeface="Roboto"/>
              <a:sym typeface="Roboto"/>
            </a:endParaRPr>
          </a:p>
          <a:p>
            <a:pPr marL="505987" lvl="2" indent="-168662" algn="just">
              <a:lnSpc>
                <a:spcPts val="2877"/>
              </a:lnSpc>
              <a:buFont typeface="Arial"/>
              <a:buChar char="⚬"/>
            </a:pPr>
            <a:r>
              <a:rPr lang="en-US" sz="2213">
                <a:solidFill>
                  <a:srgbClr val="3F62A2"/>
                </a:solidFill>
                <a:latin typeface="Roboto"/>
                <a:ea typeface="Roboto"/>
                <a:cs typeface="Roboto"/>
                <a:sym typeface="Roboto"/>
              </a:rPr>
              <a:t>Los subprocesos </a:t>
            </a:r>
            <a:r>
              <a:rPr lang="en-US" sz="2213" b="1">
                <a:solidFill>
                  <a:srgbClr val="3F62A2"/>
                </a:solidFill>
                <a:latin typeface="Roboto Bold"/>
                <a:ea typeface="Roboto Bold"/>
                <a:cs typeface="Roboto Bold"/>
                <a:sym typeface="Roboto Bold"/>
              </a:rPr>
              <a:t>"Atención en el control de manifiestos de carga de salida en el complejo fronterizo Santa Rosa"</a:t>
            </a:r>
            <a:r>
              <a:rPr lang="en-US" sz="2213">
                <a:solidFill>
                  <a:srgbClr val="3F62A2"/>
                </a:solidFill>
                <a:latin typeface="Roboto"/>
                <a:ea typeface="Roboto"/>
                <a:cs typeface="Roboto"/>
                <a:sym typeface="Roboto"/>
              </a:rPr>
              <a:t> y </a:t>
            </a:r>
            <a:r>
              <a:rPr lang="en-US" sz="2213" b="1">
                <a:solidFill>
                  <a:srgbClr val="3F62A2"/>
                </a:solidFill>
                <a:latin typeface="Roboto Bold"/>
                <a:ea typeface="Roboto Bold"/>
                <a:cs typeface="Roboto Bold"/>
                <a:sym typeface="Roboto Bold"/>
              </a:rPr>
              <a:t>“Transmisión electrónica de manifiestos de carga de ingreso vía WEB-Extranet”</a:t>
            </a:r>
            <a:r>
              <a:rPr lang="en-US" sz="2213">
                <a:solidFill>
                  <a:srgbClr val="3F62A2"/>
                </a:solidFill>
                <a:latin typeface="Roboto"/>
                <a:ea typeface="Roboto"/>
                <a:cs typeface="Roboto"/>
                <a:sym typeface="Roboto"/>
              </a:rPr>
              <a:t> obtuvieron </a:t>
            </a:r>
            <a:r>
              <a:rPr lang="en-US" sz="2213" b="1">
                <a:solidFill>
                  <a:srgbClr val="3F62A2"/>
                </a:solidFill>
                <a:latin typeface="Roboto Bold"/>
                <a:ea typeface="Roboto Bold"/>
                <a:cs typeface="Roboto Bold"/>
                <a:sym typeface="Roboto Bold"/>
              </a:rPr>
              <a:t>las calificaciones más bajas de todos</a:t>
            </a:r>
            <a:r>
              <a:rPr lang="en-US" sz="2213">
                <a:solidFill>
                  <a:srgbClr val="3F62A2"/>
                </a:solidFill>
                <a:latin typeface="Roboto"/>
                <a:ea typeface="Roboto"/>
                <a:cs typeface="Roboto"/>
                <a:sym typeface="Roboto"/>
              </a:rPr>
              <a:t>, con un puntaje de 3.54 y 3.69, respectivamente, lo que sugiere una necesidad urgente de</a:t>
            </a:r>
            <a:r>
              <a:rPr lang="en-US" sz="2213" b="1">
                <a:solidFill>
                  <a:srgbClr val="3F62A2"/>
                </a:solidFill>
                <a:latin typeface="Roboto Bold"/>
                <a:ea typeface="Roboto Bold"/>
                <a:cs typeface="Roboto Bold"/>
                <a:sym typeface="Roboto Bold"/>
              </a:rPr>
              <a:t> revisión y mejora en estos puntos específicos</a:t>
            </a:r>
            <a:r>
              <a:rPr lang="en-US" sz="2213">
                <a:solidFill>
                  <a:srgbClr val="3F62A2"/>
                </a:solidFill>
                <a:latin typeface="Roboto"/>
                <a:ea typeface="Roboto"/>
                <a:cs typeface="Roboto"/>
                <a:sym typeface="Roboto"/>
              </a:rPr>
              <a:t>.</a:t>
            </a:r>
          </a:p>
        </p:txBody>
      </p:sp>
      <p:sp>
        <p:nvSpPr>
          <p:cNvPr id="41" name="TextBox 41"/>
          <p:cNvSpPr txBox="1"/>
          <p:nvPr/>
        </p:nvSpPr>
        <p:spPr>
          <a:xfrm>
            <a:off x="2321242" y="176403"/>
            <a:ext cx="4991500" cy="852297"/>
          </a:xfrm>
          <a:prstGeom prst="rect">
            <a:avLst/>
          </a:prstGeom>
        </p:spPr>
        <p:txBody>
          <a:bodyPr lIns="0" tIns="0" rIns="0" bIns="0" rtlCol="0" anchor="t">
            <a:spAutoFit/>
          </a:bodyPr>
          <a:lstStyle/>
          <a:p>
            <a:pPr algn="just">
              <a:lnSpc>
                <a:spcPts val="6355"/>
              </a:lnSpc>
            </a:pPr>
            <a:r>
              <a:rPr lang="en-US" sz="4889" b="1">
                <a:solidFill>
                  <a:srgbClr val="B11A3C"/>
                </a:solidFill>
                <a:latin typeface="Roboto Bold"/>
                <a:ea typeface="Roboto Bold"/>
                <a:cs typeface="Roboto Bold"/>
                <a:sym typeface="Roboto Bold"/>
              </a:rPr>
              <a:t>3.  Conclusiones</a:t>
            </a:r>
          </a:p>
        </p:txBody>
      </p:sp>
      <p:graphicFrame>
        <p:nvGraphicFramePr>
          <p:cNvPr id="42" name="Table 42"/>
          <p:cNvGraphicFramePr>
            <a:graphicFrameLocks noGrp="1"/>
          </p:cNvGraphicFramePr>
          <p:nvPr/>
        </p:nvGraphicFramePr>
        <p:xfrm>
          <a:off x="1780074" y="7802946"/>
          <a:ext cx="15875000" cy="647700"/>
        </p:xfrm>
        <a:graphic>
          <a:graphicData uri="http://schemas.openxmlformats.org/drawingml/2006/table">
            <a:tbl>
              <a:tblPr/>
              <a:tblGrid>
                <a:gridCol w="15875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gridCol w="1587500">
                  <a:extLst>
                    <a:ext uri="{9D8B030D-6E8A-4147-A177-3AD203B41FA5}">
                      <a16:colId xmlns:a16="http://schemas.microsoft.com/office/drawing/2014/main" val="20004"/>
                    </a:ext>
                  </a:extLst>
                </a:gridCol>
                <a:gridCol w="1587500">
                  <a:extLst>
                    <a:ext uri="{9D8B030D-6E8A-4147-A177-3AD203B41FA5}">
                      <a16:colId xmlns:a16="http://schemas.microsoft.com/office/drawing/2014/main" val="20005"/>
                    </a:ext>
                  </a:extLst>
                </a:gridCol>
                <a:gridCol w="1587500">
                  <a:extLst>
                    <a:ext uri="{9D8B030D-6E8A-4147-A177-3AD203B41FA5}">
                      <a16:colId xmlns:a16="http://schemas.microsoft.com/office/drawing/2014/main" val="20006"/>
                    </a:ext>
                  </a:extLst>
                </a:gridCol>
                <a:gridCol w="1587500">
                  <a:extLst>
                    <a:ext uri="{9D8B030D-6E8A-4147-A177-3AD203B41FA5}">
                      <a16:colId xmlns:a16="http://schemas.microsoft.com/office/drawing/2014/main" val="20007"/>
                    </a:ext>
                  </a:extLst>
                </a:gridCol>
                <a:gridCol w="1587500">
                  <a:extLst>
                    <a:ext uri="{9D8B030D-6E8A-4147-A177-3AD203B41FA5}">
                      <a16:colId xmlns:a16="http://schemas.microsoft.com/office/drawing/2014/main" val="20008"/>
                    </a:ext>
                  </a:extLst>
                </a:gridCol>
                <a:gridCol w="1587500">
                  <a:extLst>
                    <a:ext uri="{9D8B030D-6E8A-4147-A177-3AD203B41FA5}">
                      <a16:colId xmlns:a16="http://schemas.microsoft.com/office/drawing/2014/main" val="20009"/>
                    </a:ext>
                  </a:extLst>
                </a:gridCol>
              </a:tblGrid>
              <a:tr h="647700">
                <a:tc gridSpan="5">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0000"/>
                    </a:solidFill>
                  </a:tcPr>
                </a:tc>
                <a:tc hMerge="1">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0000"/>
                    </a:solidFill>
                  </a:tcPr>
                </a:tc>
                <a:tc hMerge="1">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0000"/>
                    </a:solidFill>
                  </a:tcPr>
                </a:tc>
                <a:tc hMerge="1">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0000"/>
                    </a:solidFill>
                  </a:tcPr>
                </a:tc>
                <a:tc hMerge="1">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0000"/>
                    </a:solidFill>
                  </a:tcPr>
                </a:tc>
                <a:tc>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6600"/>
                    </a:solidFill>
                  </a:tcPr>
                </a:tc>
                <a:tc>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C000"/>
                    </a:solidFill>
                  </a:tcPr>
                </a:tc>
                <a:tc>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FF00"/>
                    </a:solidFill>
                  </a:tcPr>
                </a:tc>
                <a:tc>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FFFF99"/>
                    </a:solidFill>
                  </a:tcPr>
                </a:tc>
                <a:tc>
                  <a:txBody>
                    <a:bodyPr/>
                    <a:lstStyle/>
                    <a:p>
                      <a:pPr algn="l">
                        <a:lnSpc>
                          <a:spcPts val="1679"/>
                        </a:lnSpc>
                        <a:defRPr/>
                      </a:pPr>
                      <a:endParaRPr lang="en-US" sz="1100"/>
                    </a:p>
                  </a:txBody>
                  <a:tcPr marL="66675" marR="66675" marT="66675" marB="66675" anchor="ctr">
                    <a:lnL w="6350" cap="flat" cmpd="sng" algn="ctr">
                      <a:solidFill>
                        <a:srgbClr val="96ACC6"/>
                      </a:solidFill>
                      <a:prstDash val="solid"/>
                      <a:round/>
                      <a:headEnd type="none" w="med" len="med"/>
                      <a:tailEnd type="none" w="med" len="med"/>
                    </a:lnL>
                    <a:lnR w="6350" cap="flat" cmpd="sng" algn="ctr">
                      <a:solidFill>
                        <a:srgbClr val="96ACC6"/>
                      </a:solidFill>
                      <a:prstDash val="solid"/>
                      <a:round/>
                      <a:headEnd type="none" w="med" len="med"/>
                      <a:tailEnd type="none" w="med" len="med"/>
                    </a:lnR>
                    <a:lnT w="6350" cap="flat" cmpd="sng" algn="ctr">
                      <a:solidFill>
                        <a:srgbClr val="96ACC6"/>
                      </a:solidFill>
                      <a:prstDash val="solid"/>
                      <a:round/>
                      <a:headEnd type="none" w="med" len="med"/>
                      <a:tailEnd type="none" w="med" len="med"/>
                    </a:lnT>
                    <a:lnB w="6350" cap="flat" cmpd="sng" algn="ctr">
                      <a:solidFill>
                        <a:srgbClr val="96ACC6"/>
                      </a:solidFill>
                      <a:prstDash val="solid"/>
                      <a:round/>
                      <a:headEnd type="none" w="med" len="med"/>
                      <a:tailEnd type="none" w="med" len="med"/>
                    </a:lnB>
                    <a:solidFill>
                      <a:srgbClr val="92D050"/>
                    </a:solidFill>
                  </a:tcPr>
                </a:tc>
                <a:extLst>
                  <a:ext uri="{0D108BD9-81ED-4DB2-BD59-A6C34878D82A}">
                    <a16:rowId xmlns:a16="http://schemas.microsoft.com/office/drawing/2014/main" val="10000"/>
                  </a:ext>
                </a:extLst>
              </a:tr>
            </a:tbl>
          </a:graphicData>
        </a:graphic>
      </p:graphicFrame>
      <p:sp>
        <p:nvSpPr>
          <p:cNvPr id="43" name="TextBox 43"/>
          <p:cNvSpPr txBox="1"/>
          <p:nvPr/>
        </p:nvSpPr>
        <p:spPr>
          <a:xfrm>
            <a:off x="5061842" y="8787832"/>
            <a:ext cx="1504626" cy="374475"/>
          </a:xfrm>
          <a:prstGeom prst="rect">
            <a:avLst/>
          </a:prstGeom>
        </p:spPr>
        <p:txBody>
          <a:bodyPr lIns="0" tIns="0" rIns="0" bIns="0" rtlCol="0" anchor="t">
            <a:spAutoFit/>
          </a:bodyPr>
          <a:lstStyle/>
          <a:p>
            <a:pPr algn="just">
              <a:lnSpc>
                <a:spcPts val="2617"/>
              </a:lnSpc>
            </a:pPr>
            <a:r>
              <a:rPr lang="en-US" sz="2012">
                <a:solidFill>
                  <a:srgbClr val="3F62A2"/>
                </a:solidFill>
                <a:latin typeface="Roboto"/>
                <a:ea typeface="Roboto"/>
                <a:cs typeface="Roboto"/>
                <a:sym typeface="Roboto"/>
              </a:rPr>
              <a:t>Deficiente</a:t>
            </a:r>
          </a:p>
        </p:txBody>
      </p:sp>
      <p:sp>
        <p:nvSpPr>
          <p:cNvPr id="44" name="TextBox 44"/>
          <p:cNvSpPr txBox="1"/>
          <p:nvPr/>
        </p:nvSpPr>
        <p:spPr>
          <a:xfrm>
            <a:off x="1780070" y="8415623"/>
            <a:ext cx="256727"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0</a:t>
            </a:r>
          </a:p>
        </p:txBody>
      </p:sp>
      <p:sp>
        <p:nvSpPr>
          <p:cNvPr id="45" name="TextBox 45"/>
          <p:cNvSpPr txBox="1"/>
          <p:nvPr/>
        </p:nvSpPr>
        <p:spPr>
          <a:xfrm>
            <a:off x="9577378" y="8399583"/>
            <a:ext cx="495300"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2.5</a:t>
            </a:r>
          </a:p>
        </p:txBody>
      </p:sp>
      <p:sp>
        <p:nvSpPr>
          <p:cNvPr id="46" name="TextBox 46"/>
          <p:cNvSpPr txBox="1"/>
          <p:nvPr/>
        </p:nvSpPr>
        <p:spPr>
          <a:xfrm>
            <a:off x="11138306" y="8399583"/>
            <a:ext cx="495300"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3.0</a:t>
            </a:r>
          </a:p>
        </p:txBody>
      </p:sp>
      <p:sp>
        <p:nvSpPr>
          <p:cNvPr id="47" name="TextBox 47"/>
          <p:cNvSpPr txBox="1"/>
          <p:nvPr/>
        </p:nvSpPr>
        <p:spPr>
          <a:xfrm>
            <a:off x="12699225" y="8399583"/>
            <a:ext cx="495300"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3.5</a:t>
            </a:r>
          </a:p>
        </p:txBody>
      </p:sp>
      <p:sp>
        <p:nvSpPr>
          <p:cNvPr id="48" name="TextBox 48"/>
          <p:cNvSpPr txBox="1"/>
          <p:nvPr/>
        </p:nvSpPr>
        <p:spPr>
          <a:xfrm>
            <a:off x="14286862" y="8399583"/>
            <a:ext cx="495300"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4.0</a:t>
            </a:r>
          </a:p>
        </p:txBody>
      </p:sp>
      <p:sp>
        <p:nvSpPr>
          <p:cNvPr id="49" name="TextBox 49"/>
          <p:cNvSpPr txBox="1"/>
          <p:nvPr/>
        </p:nvSpPr>
        <p:spPr>
          <a:xfrm>
            <a:off x="15907941" y="8399583"/>
            <a:ext cx="495300" cy="387496"/>
          </a:xfrm>
          <a:prstGeom prst="rect">
            <a:avLst/>
          </a:prstGeom>
        </p:spPr>
        <p:txBody>
          <a:bodyPr lIns="0" tIns="0" rIns="0" bIns="0" rtlCol="0" anchor="t">
            <a:spAutoFit/>
          </a:bodyPr>
          <a:lstStyle/>
          <a:p>
            <a:pPr algn="just">
              <a:lnSpc>
                <a:spcPts val="2877"/>
              </a:lnSpc>
            </a:pPr>
            <a:r>
              <a:rPr lang="en-US" sz="2213">
                <a:solidFill>
                  <a:srgbClr val="3F62A2"/>
                </a:solidFill>
                <a:latin typeface="Roboto"/>
                <a:ea typeface="Roboto"/>
                <a:cs typeface="Roboto"/>
                <a:sym typeface="Roboto"/>
              </a:rPr>
              <a:t>4.5</a:t>
            </a:r>
          </a:p>
        </p:txBody>
      </p:sp>
      <p:sp>
        <p:nvSpPr>
          <p:cNvPr id="50" name="TextBox 50"/>
          <p:cNvSpPr txBox="1"/>
          <p:nvPr/>
        </p:nvSpPr>
        <p:spPr>
          <a:xfrm>
            <a:off x="10633643" y="8787832"/>
            <a:ext cx="1504626" cy="374475"/>
          </a:xfrm>
          <a:prstGeom prst="rect">
            <a:avLst/>
          </a:prstGeom>
        </p:spPr>
        <p:txBody>
          <a:bodyPr lIns="0" tIns="0" rIns="0" bIns="0" rtlCol="0" anchor="t">
            <a:spAutoFit/>
          </a:bodyPr>
          <a:lstStyle/>
          <a:p>
            <a:pPr algn="just">
              <a:lnSpc>
                <a:spcPts val="2617"/>
              </a:lnSpc>
            </a:pPr>
            <a:r>
              <a:rPr lang="en-US" sz="2012">
                <a:solidFill>
                  <a:srgbClr val="3F62A2"/>
                </a:solidFill>
                <a:latin typeface="Roboto"/>
                <a:ea typeface="Roboto"/>
                <a:cs typeface="Roboto"/>
                <a:sym typeface="Roboto"/>
              </a:rPr>
              <a:t>Alto Riesgo</a:t>
            </a:r>
          </a:p>
        </p:txBody>
      </p:sp>
      <p:sp>
        <p:nvSpPr>
          <p:cNvPr id="51" name="TextBox 51"/>
          <p:cNvSpPr txBox="1"/>
          <p:nvPr/>
        </p:nvSpPr>
        <p:spPr>
          <a:xfrm>
            <a:off x="13782199" y="8787832"/>
            <a:ext cx="1504626" cy="374475"/>
          </a:xfrm>
          <a:prstGeom prst="rect">
            <a:avLst/>
          </a:prstGeom>
        </p:spPr>
        <p:txBody>
          <a:bodyPr lIns="0" tIns="0" rIns="0" bIns="0" rtlCol="0" anchor="t">
            <a:spAutoFit/>
          </a:bodyPr>
          <a:lstStyle/>
          <a:p>
            <a:pPr algn="just">
              <a:lnSpc>
                <a:spcPts val="2617"/>
              </a:lnSpc>
            </a:pPr>
            <a:r>
              <a:rPr lang="en-US" sz="2012">
                <a:solidFill>
                  <a:srgbClr val="3F62A2"/>
                </a:solidFill>
                <a:latin typeface="Roboto"/>
                <a:ea typeface="Roboto"/>
                <a:cs typeface="Roboto"/>
                <a:sym typeface="Roboto"/>
              </a:rPr>
              <a:t>Bajo Riesgo</a:t>
            </a:r>
          </a:p>
        </p:txBody>
      </p:sp>
      <p:sp>
        <p:nvSpPr>
          <p:cNvPr id="52" name="TextBox 52"/>
          <p:cNvSpPr txBox="1"/>
          <p:nvPr/>
        </p:nvSpPr>
        <p:spPr>
          <a:xfrm>
            <a:off x="16208807" y="8787832"/>
            <a:ext cx="1487376" cy="374475"/>
          </a:xfrm>
          <a:prstGeom prst="rect">
            <a:avLst/>
          </a:prstGeom>
        </p:spPr>
        <p:txBody>
          <a:bodyPr lIns="0" tIns="0" rIns="0" bIns="0" rtlCol="0" anchor="t">
            <a:spAutoFit/>
          </a:bodyPr>
          <a:lstStyle/>
          <a:p>
            <a:pPr algn="just">
              <a:lnSpc>
                <a:spcPts val="2617"/>
              </a:lnSpc>
            </a:pPr>
            <a:r>
              <a:rPr lang="en-US" sz="2012">
                <a:solidFill>
                  <a:srgbClr val="3F62A2"/>
                </a:solidFill>
                <a:latin typeface="Roboto"/>
                <a:ea typeface="Roboto"/>
                <a:cs typeface="Roboto"/>
                <a:sym typeface="Roboto"/>
              </a:rPr>
              <a:t>Satisfactorio</a:t>
            </a:r>
          </a:p>
        </p:txBody>
      </p:sp>
      <p:sp>
        <p:nvSpPr>
          <p:cNvPr id="53" name="Freeform 53"/>
          <p:cNvSpPr/>
          <p:nvPr/>
        </p:nvSpPr>
        <p:spPr>
          <a:xfrm>
            <a:off x="12208200" y="6865061"/>
            <a:ext cx="1439253" cy="760525"/>
          </a:xfrm>
          <a:custGeom>
            <a:avLst/>
            <a:gdLst/>
            <a:ahLst/>
            <a:cxnLst/>
            <a:rect l="l" t="t" r="r" b="b"/>
            <a:pathLst>
              <a:path w="1439253" h="760525">
                <a:moveTo>
                  <a:pt x="0" y="0"/>
                </a:moveTo>
                <a:lnTo>
                  <a:pt x="1439253" y="0"/>
                </a:lnTo>
                <a:lnTo>
                  <a:pt x="1439253" y="760525"/>
                </a:lnTo>
                <a:lnTo>
                  <a:pt x="0" y="7605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54" name="Group 54"/>
          <p:cNvGrpSpPr/>
          <p:nvPr/>
        </p:nvGrpSpPr>
        <p:grpSpPr>
          <a:xfrm>
            <a:off x="12262447" y="6810813"/>
            <a:ext cx="1330757" cy="760524"/>
            <a:chOff x="0" y="0"/>
            <a:chExt cx="1774342" cy="1014032"/>
          </a:xfrm>
        </p:grpSpPr>
        <p:sp>
          <p:nvSpPr>
            <p:cNvPr id="55" name="Freeform 55"/>
            <p:cNvSpPr/>
            <p:nvPr/>
          </p:nvSpPr>
          <p:spPr>
            <a:xfrm>
              <a:off x="0" y="0"/>
              <a:ext cx="1774343" cy="1014033"/>
            </a:xfrm>
            <a:custGeom>
              <a:avLst/>
              <a:gdLst/>
              <a:ahLst/>
              <a:cxnLst/>
              <a:rect l="l" t="t" r="r" b="b"/>
              <a:pathLst>
                <a:path w="1774343" h="1014033">
                  <a:moveTo>
                    <a:pt x="0" y="0"/>
                  </a:moveTo>
                  <a:lnTo>
                    <a:pt x="1774343" y="0"/>
                  </a:lnTo>
                  <a:lnTo>
                    <a:pt x="1774343" y="1014033"/>
                  </a:lnTo>
                  <a:lnTo>
                    <a:pt x="0" y="1014033"/>
                  </a:lnTo>
                  <a:close/>
                </a:path>
              </a:pathLst>
            </a:custGeom>
            <a:solidFill>
              <a:srgbClr val="000000">
                <a:alpha val="0"/>
              </a:srgbClr>
            </a:solidFill>
            <a:ln w="12700">
              <a:noFill/>
            </a:ln>
          </p:spPr>
        </p:sp>
        <p:sp>
          <p:nvSpPr>
            <p:cNvPr id="56" name="TextBox 56"/>
            <p:cNvSpPr txBox="1"/>
            <p:nvPr/>
          </p:nvSpPr>
          <p:spPr>
            <a:xfrm>
              <a:off x="0" y="-28575"/>
              <a:ext cx="1774342" cy="1042607"/>
            </a:xfrm>
            <a:prstGeom prst="rect">
              <a:avLst/>
            </a:prstGeom>
            <a:ln>
              <a:noFill/>
            </a:ln>
          </p:spPr>
          <p:txBody>
            <a:bodyPr lIns="0" tIns="0" rIns="0" bIns="0" rtlCol="0" anchor="ctr"/>
            <a:lstStyle/>
            <a:p>
              <a:pPr algn="ctr">
                <a:lnSpc>
                  <a:spcPts val="1911"/>
                </a:lnSpc>
              </a:pPr>
              <a:r>
                <a:rPr lang="en-US" sz="1470">
                  <a:solidFill>
                    <a:srgbClr val="032044"/>
                  </a:solidFill>
                  <a:latin typeface="Roboto"/>
                  <a:ea typeface="Roboto"/>
                  <a:cs typeface="Roboto"/>
                  <a:sym typeface="Roboto"/>
                </a:rPr>
                <a:t>Entidades Públicas</a:t>
              </a:r>
            </a:p>
          </p:txBody>
        </p:sp>
      </p:grpSp>
      <p:sp>
        <p:nvSpPr>
          <p:cNvPr id="57" name="Freeform 57"/>
          <p:cNvSpPr/>
          <p:nvPr/>
        </p:nvSpPr>
        <p:spPr>
          <a:xfrm>
            <a:off x="15375314" y="6906170"/>
            <a:ext cx="1439253" cy="760525"/>
          </a:xfrm>
          <a:custGeom>
            <a:avLst/>
            <a:gdLst/>
            <a:ahLst/>
            <a:cxnLst/>
            <a:rect l="l" t="t" r="r" b="b"/>
            <a:pathLst>
              <a:path w="1439253" h="760525">
                <a:moveTo>
                  <a:pt x="0" y="0"/>
                </a:moveTo>
                <a:lnTo>
                  <a:pt x="1439253" y="0"/>
                </a:lnTo>
                <a:lnTo>
                  <a:pt x="1439253" y="760525"/>
                </a:lnTo>
                <a:lnTo>
                  <a:pt x="0" y="76052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58" name="Group 58"/>
          <p:cNvGrpSpPr/>
          <p:nvPr/>
        </p:nvGrpSpPr>
        <p:grpSpPr>
          <a:xfrm>
            <a:off x="15429567" y="6851923"/>
            <a:ext cx="1330757" cy="760524"/>
            <a:chOff x="0" y="0"/>
            <a:chExt cx="1774342" cy="1014032"/>
          </a:xfrm>
        </p:grpSpPr>
        <p:sp>
          <p:nvSpPr>
            <p:cNvPr id="59" name="Freeform 59"/>
            <p:cNvSpPr/>
            <p:nvPr/>
          </p:nvSpPr>
          <p:spPr>
            <a:xfrm>
              <a:off x="0" y="0"/>
              <a:ext cx="1774343" cy="1014033"/>
            </a:xfrm>
            <a:custGeom>
              <a:avLst/>
              <a:gdLst/>
              <a:ahLst/>
              <a:cxnLst/>
              <a:rect l="l" t="t" r="r" b="b"/>
              <a:pathLst>
                <a:path w="1774343" h="1014033">
                  <a:moveTo>
                    <a:pt x="0" y="0"/>
                  </a:moveTo>
                  <a:lnTo>
                    <a:pt x="1774343" y="0"/>
                  </a:lnTo>
                  <a:lnTo>
                    <a:pt x="1774343" y="1014033"/>
                  </a:lnTo>
                  <a:lnTo>
                    <a:pt x="0" y="1014033"/>
                  </a:lnTo>
                  <a:close/>
                </a:path>
              </a:pathLst>
            </a:custGeom>
            <a:solidFill>
              <a:srgbClr val="000000">
                <a:alpha val="0"/>
              </a:srgbClr>
            </a:solidFill>
            <a:ln w="12700">
              <a:noFill/>
            </a:ln>
          </p:spPr>
        </p:sp>
        <p:sp>
          <p:nvSpPr>
            <p:cNvPr id="60" name="TextBox 60"/>
            <p:cNvSpPr txBox="1"/>
            <p:nvPr/>
          </p:nvSpPr>
          <p:spPr>
            <a:xfrm>
              <a:off x="0" y="-28575"/>
              <a:ext cx="1774342" cy="1042607"/>
            </a:xfrm>
            <a:prstGeom prst="rect">
              <a:avLst/>
            </a:prstGeom>
            <a:ln>
              <a:noFill/>
            </a:ln>
          </p:spPr>
          <p:txBody>
            <a:bodyPr lIns="0" tIns="0" rIns="0" bIns="0" rtlCol="0" anchor="ctr"/>
            <a:lstStyle/>
            <a:p>
              <a:pPr algn="ctr">
                <a:lnSpc>
                  <a:spcPts val="1911"/>
                </a:lnSpc>
              </a:pPr>
              <a:r>
                <a:rPr lang="en-US" sz="1470" dirty="0" err="1">
                  <a:solidFill>
                    <a:srgbClr val="032044"/>
                  </a:solidFill>
                  <a:latin typeface="Roboto"/>
                  <a:ea typeface="Roboto"/>
                  <a:cs typeface="Roboto"/>
                  <a:sym typeface="Roboto"/>
                </a:rPr>
                <a:t>Entidades</a:t>
              </a:r>
              <a:r>
                <a:rPr lang="en-US" sz="1470" dirty="0">
                  <a:solidFill>
                    <a:srgbClr val="032044"/>
                  </a:solidFill>
                  <a:latin typeface="Roboto"/>
                  <a:ea typeface="Roboto"/>
                  <a:cs typeface="Roboto"/>
                  <a:sym typeface="Roboto"/>
                </a:rPr>
                <a:t> </a:t>
              </a:r>
              <a:r>
                <a:rPr lang="en-US" sz="1470" dirty="0" err="1">
                  <a:solidFill>
                    <a:srgbClr val="032044"/>
                  </a:solidFill>
                  <a:latin typeface="Roboto"/>
                  <a:ea typeface="Roboto"/>
                  <a:cs typeface="Roboto"/>
                  <a:sym typeface="Roboto"/>
                </a:rPr>
                <a:t>Privadas</a:t>
              </a:r>
              <a:endParaRPr lang="en-US" sz="1470" dirty="0">
                <a:solidFill>
                  <a:srgbClr val="032044"/>
                </a:solidFill>
                <a:latin typeface="Roboto"/>
                <a:ea typeface="Roboto"/>
                <a:cs typeface="Roboto"/>
                <a:sym typeface="Roboto"/>
              </a:endParaRPr>
            </a:p>
          </p:txBody>
        </p:sp>
      </p:grpSp>
      <p:grpSp>
        <p:nvGrpSpPr>
          <p:cNvPr id="61" name="Group 61"/>
          <p:cNvGrpSpPr/>
          <p:nvPr/>
        </p:nvGrpSpPr>
        <p:grpSpPr>
          <a:xfrm>
            <a:off x="1796672" y="8994115"/>
            <a:ext cx="3039370" cy="57150"/>
            <a:chOff x="0" y="0"/>
            <a:chExt cx="4052494" cy="76200"/>
          </a:xfrm>
        </p:grpSpPr>
        <p:sp>
          <p:nvSpPr>
            <p:cNvPr id="62" name="Freeform 62"/>
            <p:cNvSpPr/>
            <p:nvPr/>
          </p:nvSpPr>
          <p:spPr>
            <a:xfrm>
              <a:off x="25273" y="0"/>
              <a:ext cx="4002024" cy="76200"/>
            </a:xfrm>
            <a:custGeom>
              <a:avLst/>
              <a:gdLst/>
              <a:ahLst/>
              <a:cxnLst/>
              <a:rect l="l" t="t" r="r" b="b"/>
              <a:pathLst>
                <a:path w="4002024" h="76200">
                  <a:moveTo>
                    <a:pt x="0" y="25400"/>
                  </a:moveTo>
                  <a:lnTo>
                    <a:pt x="4001643" y="0"/>
                  </a:lnTo>
                  <a:lnTo>
                    <a:pt x="4002024" y="50800"/>
                  </a:lnTo>
                  <a:lnTo>
                    <a:pt x="254" y="76200"/>
                  </a:lnTo>
                  <a:close/>
                </a:path>
              </a:pathLst>
            </a:custGeom>
            <a:solidFill>
              <a:srgbClr val="305496"/>
            </a:solidFill>
            <a:ln w="12700">
              <a:solidFill>
                <a:srgbClr val="000000"/>
              </a:solidFill>
            </a:ln>
          </p:spPr>
        </p:sp>
      </p:grpSp>
      <p:grpSp>
        <p:nvGrpSpPr>
          <p:cNvPr id="63" name="Group 63"/>
          <p:cNvGrpSpPr/>
          <p:nvPr/>
        </p:nvGrpSpPr>
        <p:grpSpPr>
          <a:xfrm>
            <a:off x="6377902" y="8994115"/>
            <a:ext cx="3379270" cy="38100"/>
            <a:chOff x="0" y="0"/>
            <a:chExt cx="4505693" cy="50800"/>
          </a:xfrm>
        </p:grpSpPr>
        <p:sp>
          <p:nvSpPr>
            <p:cNvPr id="64" name="Freeform 64"/>
            <p:cNvSpPr/>
            <p:nvPr/>
          </p:nvSpPr>
          <p:spPr>
            <a:xfrm>
              <a:off x="25400" y="0"/>
              <a:ext cx="4454906" cy="50800"/>
            </a:xfrm>
            <a:custGeom>
              <a:avLst/>
              <a:gdLst/>
              <a:ahLst/>
              <a:cxnLst/>
              <a:rect l="l" t="t" r="r" b="b"/>
              <a:pathLst>
                <a:path w="4454906" h="50800">
                  <a:moveTo>
                    <a:pt x="0" y="0"/>
                  </a:moveTo>
                  <a:lnTo>
                    <a:pt x="4454906" y="0"/>
                  </a:lnTo>
                  <a:lnTo>
                    <a:pt x="4454906" y="50800"/>
                  </a:lnTo>
                  <a:lnTo>
                    <a:pt x="0" y="50800"/>
                  </a:lnTo>
                  <a:close/>
                </a:path>
              </a:pathLst>
            </a:custGeom>
            <a:solidFill>
              <a:srgbClr val="305496"/>
            </a:solidFill>
            <a:ln w="12700">
              <a:solidFill>
                <a:srgbClr val="000000"/>
              </a:solidFill>
            </a:ln>
          </p:spPr>
        </p:sp>
      </p:grpSp>
      <p:grpSp>
        <p:nvGrpSpPr>
          <p:cNvPr id="65" name="Group 65"/>
          <p:cNvGrpSpPr/>
          <p:nvPr/>
        </p:nvGrpSpPr>
        <p:grpSpPr>
          <a:xfrm>
            <a:off x="9719081" y="8994115"/>
            <a:ext cx="803615" cy="38100"/>
            <a:chOff x="0" y="0"/>
            <a:chExt cx="1071486" cy="50800"/>
          </a:xfrm>
        </p:grpSpPr>
        <p:sp>
          <p:nvSpPr>
            <p:cNvPr id="66" name="Freeform 66"/>
            <p:cNvSpPr/>
            <p:nvPr/>
          </p:nvSpPr>
          <p:spPr>
            <a:xfrm>
              <a:off x="25400" y="0"/>
              <a:ext cx="1020699" cy="50800"/>
            </a:xfrm>
            <a:custGeom>
              <a:avLst/>
              <a:gdLst/>
              <a:ahLst/>
              <a:cxnLst/>
              <a:rect l="l" t="t" r="r" b="b"/>
              <a:pathLst>
                <a:path w="1020699" h="50800">
                  <a:moveTo>
                    <a:pt x="0" y="0"/>
                  </a:moveTo>
                  <a:lnTo>
                    <a:pt x="1020699" y="0"/>
                  </a:lnTo>
                  <a:lnTo>
                    <a:pt x="1020699" y="50800"/>
                  </a:lnTo>
                  <a:lnTo>
                    <a:pt x="0" y="50800"/>
                  </a:lnTo>
                  <a:close/>
                </a:path>
              </a:pathLst>
            </a:custGeom>
            <a:solidFill>
              <a:srgbClr val="305496"/>
            </a:solidFill>
            <a:ln w="12700">
              <a:solidFill>
                <a:srgbClr val="000000"/>
              </a:solidFill>
            </a:ln>
          </p:spPr>
        </p:sp>
      </p:grpSp>
      <p:grpSp>
        <p:nvGrpSpPr>
          <p:cNvPr id="67" name="Group 67"/>
          <p:cNvGrpSpPr/>
          <p:nvPr/>
        </p:nvGrpSpPr>
        <p:grpSpPr>
          <a:xfrm>
            <a:off x="12065737" y="9013165"/>
            <a:ext cx="900189" cy="38100"/>
            <a:chOff x="0" y="0"/>
            <a:chExt cx="1200252" cy="50800"/>
          </a:xfrm>
        </p:grpSpPr>
        <p:sp>
          <p:nvSpPr>
            <p:cNvPr id="68" name="Freeform 68"/>
            <p:cNvSpPr/>
            <p:nvPr/>
          </p:nvSpPr>
          <p:spPr>
            <a:xfrm>
              <a:off x="25400" y="0"/>
              <a:ext cx="1149477" cy="50800"/>
            </a:xfrm>
            <a:custGeom>
              <a:avLst/>
              <a:gdLst/>
              <a:ahLst/>
              <a:cxnLst/>
              <a:rect l="l" t="t" r="r" b="b"/>
              <a:pathLst>
                <a:path w="1149477" h="50800">
                  <a:moveTo>
                    <a:pt x="0" y="0"/>
                  </a:moveTo>
                  <a:lnTo>
                    <a:pt x="1149477" y="0"/>
                  </a:lnTo>
                  <a:lnTo>
                    <a:pt x="1149477" y="50800"/>
                  </a:lnTo>
                  <a:lnTo>
                    <a:pt x="0" y="50800"/>
                  </a:lnTo>
                  <a:close/>
                </a:path>
              </a:pathLst>
            </a:custGeom>
            <a:solidFill>
              <a:srgbClr val="305496"/>
            </a:solidFill>
            <a:ln w="12700">
              <a:solidFill>
                <a:srgbClr val="000000"/>
              </a:solidFill>
            </a:ln>
          </p:spPr>
        </p:sp>
      </p:grpSp>
      <p:grpSp>
        <p:nvGrpSpPr>
          <p:cNvPr id="69" name="Group 69"/>
          <p:cNvGrpSpPr/>
          <p:nvPr/>
        </p:nvGrpSpPr>
        <p:grpSpPr>
          <a:xfrm>
            <a:off x="12908775" y="9013165"/>
            <a:ext cx="835866" cy="38100"/>
            <a:chOff x="0" y="0"/>
            <a:chExt cx="1114488" cy="50800"/>
          </a:xfrm>
        </p:grpSpPr>
        <p:sp>
          <p:nvSpPr>
            <p:cNvPr id="70" name="Freeform 70"/>
            <p:cNvSpPr/>
            <p:nvPr/>
          </p:nvSpPr>
          <p:spPr>
            <a:xfrm>
              <a:off x="25400" y="0"/>
              <a:ext cx="1063752" cy="50800"/>
            </a:xfrm>
            <a:custGeom>
              <a:avLst/>
              <a:gdLst/>
              <a:ahLst/>
              <a:cxnLst/>
              <a:rect l="l" t="t" r="r" b="b"/>
              <a:pathLst>
                <a:path w="1063752" h="50800">
                  <a:moveTo>
                    <a:pt x="0" y="0"/>
                  </a:moveTo>
                  <a:lnTo>
                    <a:pt x="1063752" y="0"/>
                  </a:lnTo>
                  <a:lnTo>
                    <a:pt x="1063752" y="50800"/>
                  </a:lnTo>
                  <a:lnTo>
                    <a:pt x="0" y="50800"/>
                  </a:lnTo>
                  <a:close/>
                </a:path>
              </a:pathLst>
            </a:custGeom>
            <a:solidFill>
              <a:srgbClr val="305496"/>
            </a:solidFill>
            <a:ln w="12700">
              <a:solidFill>
                <a:srgbClr val="000000"/>
              </a:solidFill>
            </a:ln>
          </p:spPr>
        </p:sp>
      </p:grpSp>
      <p:grpSp>
        <p:nvGrpSpPr>
          <p:cNvPr id="71" name="Group 71"/>
          <p:cNvGrpSpPr/>
          <p:nvPr/>
        </p:nvGrpSpPr>
        <p:grpSpPr>
          <a:xfrm>
            <a:off x="15135387" y="9013165"/>
            <a:ext cx="978608" cy="38100"/>
            <a:chOff x="0" y="0"/>
            <a:chExt cx="1304811" cy="50800"/>
          </a:xfrm>
        </p:grpSpPr>
        <p:sp>
          <p:nvSpPr>
            <p:cNvPr id="72" name="Freeform 72"/>
            <p:cNvSpPr/>
            <p:nvPr/>
          </p:nvSpPr>
          <p:spPr>
            <a:xfrm>
              <a:off x="25400" y="0"/>
              <a:ext cx="1253998" cy="50800"/>
            </a:xfrm>
            <a:custGeom>
              <a:avLst/>
              <a:gdLst/>
              <a:ahLst/>
              <a:cxnLst/>
              <a:rect l="l" t="t" r="r" b="b"/>
              <a:pathLst>
                <a:path w="1253998" h="50800">
                  <a:moveTo>
                    <a:pt x="0" y="0"/>
                  </a:moveTo>
                  <a:lnTo>
                    <a:pt x="1253998" y="0"/>
                  </a:lnTo>
                  <a:lnTo>
                    <a:pt x="1253998" y="50800"/>
                  </a:lnTo>
                  <a:lnTo>
                    <a:pt x="0" y="50800"/>
                  </a:lnTo>
                  <a:close/>
                </a:path>
              </a:pathLst>
            </a:custGeom>
            <a:solidFill>
              <a:srgbClr val="305496"/>
            </a:solidFill>
            <a:ln w="12700">
              <a:solidFill>
                <a:srgbClr val="000000"/>
              </a:solidFill>
            </a:ln>
          </p:spPr>
        </p:sp>
      </p:grpSp>
      <p:grpSp>
        <p:nvGrpSpPr>
          <p:cNvPr id="73" name="Group 73"/>
          <p:cNvGrpSpPr/>
          <p:nvPr/>
        </p:nvGrpSpPr>
        <p:grpSpPr>
          <a:xfrm>
            <a:off x="12908775" y="8753980"/>
            <a:ext cx="38100" cy="297285"/>
            <a:chOff x="0" y="0"/>
            <a:chExt cx="50800" cy="396380"/>
          </a:xfrm>
        </p:grpSpPr>
        <p:sp>
          <p:nvSpPr>
            <p:cNvPr id="74" name="Freeform 74"/>
            <p:cNvSpPr/>
            <p:nvPr/>
          </p:nvSpPr>
          <p:spPr>
            <a:xfrm>
              <a:off x="0" y="25400"/>
              <a:ext cx="50800" cy="345567"/>
            </a:xfrm>
            <a:custGeom>
              <a:avLst/>
              <a:gdLst/>
              <a:ahLst/>
              <a:cxnLst/>
              <a:rect l="l" t="t" r="r" b="b"/>
              <a:pathLst>
                <a:path w="50800" h="345567">
                  <a:moveTo>
                    <a:pt x="50800" y="0"/>
                  </a:moveTo>
                  <a:lnTo>
                    <a:pt x="50800" y="345567"/>
                  </a:lnTo>
                  <a:lnTo>
                    <a:pt x="0" y="345567"/>
                  </a:lnTo>
                  <a:lnTo>
                    <a:pt x="0" y="0"/>
                  </a:lnTo>
                  <a:close/>
                </a:path>
              </a:pathLst>
            </a:custGeom>
            <a:solidFill>
              <a:srgbClr val="305496"/>
            </a:solidFill>
            <a:ln w="12700">
              <a:solidFill>
                <a:srgbClr val="000000"/>
              </a:solidFill>
            </a:ln>
          </p:spPr>
        </p:sp>
      </p:grpSp>
      <p:grpSp>
        <p:nvGrpSpPr>
          <p:cNvPr id="75" name="Group 75"/>
          <p:cNvGrpSpPr/>
          <p:nvPr/>
        </p:nvGrpSpPr>
        <p:grpSpPr>
          <a:xfrm>
            <a:off x="16067875" y="8793585"/>
            <a:ext cx="38100" cy="278235"/>
            <a:chOff x="0" y="0"/>
            <a:chExt cx="50800" cy="370980"/>
          </a:xfrm>
        </p:grpSpPr>
        <p:sp>
          <p:nvSpPr>
            <p:cNvPr id="76" name="Freeform 76"/>
            <p:cNvSpPr/>
            <p:nvPr/>
          </p:nvSpPr>
          <p:spPr>
            <a:xfrm>
              <a:off x="0" y="25400"/>
              <a:ext cx="50800" cy="320167"/>
            </a:xfrm>
            <a:custGeom>
              <a:avLst/>
              <a:gdLst/>
              <a:ahLst/>
              <a:cxnLst/>
              <a:rect l="l" t="t" r="r" b="b"/>
              <a:pathLst>
                <a:path w="50800" h="320167">
                  <a:moveTo>
                    <a:pt x="50800" y="0"/>
                  </a:moveTo>
                  <a:lnTo>
                    <a:pt x="50800" y="320167"/>
                  </a:lnTo>
                  <a:lnTo>
                    <a:pt x="0" y="320167"/>
                  </a:lnTo>
                  <a:lnTo>
                    <a:pt x="0" y="0"/>
                  </a:lnTo>
                  <a:close/>
                </a:path>
              </a:pathLst>
            </a:custGeom>
            <a:solidFill>
              <a:srgbClr val="305496"/>
            </a:solidFill>
            <a:ln w="12700">
              <a:solidFill>
                <a:srgbClr val="000000"/>
              </a:solidFill>
            </a:ln>
          </p:spPr>
        </p:sp>
      </p:grpSp>
      <p:grpSp>
        <p:nvGrpSpPr>
          <p:cNvPr id="77" name="Group 77"/>
          <p:cNvGrpSpPr/>
          <p:nvPr/>
        </p:nvGrpSpPr>
        <p:grpSpPr>
          <a:xfrm>
            <a:off x="9719081" y="8734930"/>
            <a:ext cx="38100" cy="297285"/>
            <a:chOff x="0" y="0"/>
            <a:chExt cx="50800" cy="396380"/>
          </a:xfrm>
        </p:grpSpPr>
        <p:sp>
          <p:nvSpPr>
            <p:cNvPr id="78" name="Freeform 78"/>
            <p:cNvSpPr/>
            <p:nvPr/>
          </p:nvSpPr>
          <p:spPr>
            <a:xfrm>
              <a:off x="0" y="25400"/>
              <a:ext cx="50800" cy="345567"/>
            </a:xfrm>
            <a:custGeom>
              <a:avLst/>
              <a:gdLst/>
              <a:ahLst/>
              <a:cxnLst/>
              <a:rect l="l" t="t" r="r" b="b"/>
              <a:pathLst>
                <a:path w="50800" h="345567">
                  <a:moveTo>
                    <a:pt x="50800" y="0"/>
                  </a:moveTo>
                  <a:lnTo>
                    <a:pt x="50800" y="345567"/>
                  </a:lnTo>
                  <a:lnTo>
                    <a:pt x="0" y="345567"/>
                  </a:lnTo>
                  <a:lnTo>
                    <a:pt x="0" y="0"/>
                  </a:lnTo>
                  <a:close/>
                </a:path>
              </a:pathLst>
            </a:custGeom>
            <a:solidFill>
              <a:srgbClr val="305496"/>
            </a:solidFill>
            <a:ln w="12700">
              <a:solidFill>
                <a:srgbClr val="000000"/>
              </a:solidFill>
            </a:ln>
          </p:spPr>
        </p:sp>
      </p:grpSp>
      <p:grpSp>
        <p:nvGrpSpPr>
          <p:cNvPr id="79" name="Group 79"/>
          <p:cNvGrpSpPr/>
          <p:nvPr/>
        </p:nvGrpSpPr>
        <p:grpSpPr>
          <a:xfrm>
            <a:off x="1815722" y="8753980"/>
            <a:ext cx="38100" cy="297285"/>
            <a:chOff x="0" y="0"/>
            <a:chExt cx="50800" cy="396380"/>
          </a:xfrm>
        </p:grpSpPr>
        <p:sp>
          <p:nvSpPr>
            <p:cNvPr id="80" name="Freeform 80"/>
            <p:cNvSpPr/>
            <p:nvPr/>
          </p:nvSpPr>
          <p:spPr>
            <a:xfrm>
              <a:off x="0" y="25400"/>
              <a:ext cx="50800" cy="345567"/>
            </a:xfrm>
            <a:custGeom>
              <a:avLst/>
              <a:gdLst/>
              <a:ahLst/>
              <a:cxnLst/>
              <a:rect l="l" t="t" r="r" b="b"/>
              <a:pathLst>
                <a:path w="50800" h="345567">
                  <a:moveTo>
                    <a:pt x="50800" y="0"/>
                  </a:moveTo>
                  <a:lnTo>
                    <a:pt x="50800" y="345567"/>
                  </a:lnTo>
                  <a:lnTo>
                    <a:pt x="0" y="345567"/>
                  </a:lnTo>
                  <a:lnTo>
                    <a:pt x="0" y="0"/>
                  </a:lnTo>
                  <a:close/>
                </a:path>
              </a:pathLst>
            </a:custGeom>
            <a:solidFill>
              <a:srgbClr val="305496"/>
            </a:solidFill>
            <a:ln w="12700">
              <a:solidFill>
                <a:srgbClr val="000000"/>
              </a:solidFill>
            </a:ln>
          </p:spPr>
        </p:sp>
      </p:grpSp>
      <p:grpSp>
        <p:nvGrpSpPr>
          <p:cNvPr id="81" name="Group 81"/>
          <p:cNvGrpSpPr/>
          <p:nvPr/>
        </p:nvGrpSpPr>
        <p:grpSpPr>
          <a:xfrm>
            <a:off x="12927825" y="7552287"/>
            <a:ext cx="46120" cy="269710"/>
            <a:chOff x="0" y="0"/>
            <a:chExt cx="61493" cy="359613"/>
          </a:xfrm>
        </p:grpSpPr>
        <p:sp>
          <p:nvSpPr>
            <p:cNvPr id="82" name="Freeform 82"/>
            <p:cNvSpPr/>
            <p:nvPr/>
          </p:nvSpPr>
          <p:spPr>
            <a:xfrm>
              <a:off x="0" y="24511"/>
              <a:ext cx="61468" cy="310515"/>
            </a:xfrm>
            <a:custGeom>
              <a:avLst/>
              <a:gdLst/>
              <a:ahLst/>
              <a:cxnLst/>
              <a:rect l="l" t="t" r="r" b="b"/>
              <a:pathLst>
                <a:path w="61468" h="310515">
                  <a:moveTo>
                    <a:pt x="61468" y="1778"/>
                  </a:moveTo>
                  <a:lnTo>
                    <a:pt x="50800" y="310515"/>
                  </a:lnTo>
                  <a:lnTo>
                    <a:pt x="0" y="308737"/>
                  </a:lnTo>
                  <a:lnTo>
                    <a:pt x="10668" y="0"/>
                  </a:lnTo>
                  <a:close/>
                </a:path>
              </a:pathLst>
            </a:custGeom>
            <a:solidFill>
              <a:srgbClr val="FFC000"/>
            </a:solidFill>
            <a:ln w="12700">
              <a:solidFill>
                <a:srgbClr val="000000"/>
              </a:solidFill>
            </a:ln>
          </p:spPr>
        </p:sp>
      </p:grpSp>
      <p:grpSp>
        <p:nvGrpSpPr>
          <p:cNvPr id="83" name="Group 83"/>
          <p:cNvGrpSpPr/>
          <p:nvPr/>
        </p:nvGrpSpPr>
        <p:grpSpPr>
          <a:xfrm>
            <a:off x="16067875" y="7593397"/>
            <a:ext cx="46120" cy="228600"/>
            <a:chOff x="0" y="0"/>
            <a:chExt cx="61493" cy="304800"/>
          </a:xfrm>
        </p:grpSpPr>
        <p:sp>
          <p:nvSpPr>
            <p:cNvPr id="84" name="Freeform 84"/>
            <p:cNvSpPr/>
            <p:nvPr/>
          </p:nvSpPr>
          <p:spPr>
            <a:xfrm>
              <a:off x="0" y="24257"/>
              <a:ext cx="61468" cy="256159"/>
            </a:xfrm>
            <a:custGeom>
              <a:avLst/>
              <a:gdLst/>
              <a:ahLst/>
              <a:cxnLst/>
              <a:rect l="l" t="t" r="r" b="b"/>
              <a:pathLst>
                <a:path w="61468" h="256159">
                  <a:moveTo>
                    <a:pt x="61468" y="2159"/>
                  </a:moveTo>
                  <a:lnTo>
                    <a:pt x="50800" y="256159"/>
                  </a:lnTo>
                  <a:lnTo>
                    <a:pt x="0" y="254000"/>
                  </a:lnTo>
                  <a:lnTo>
                    <a:pt x="10668" y="0"/>
                  </a:lnTo>
                  <a:close/>
                </a:path>
              </a:pathLst>
            </a:custGeom>
            <a:solidFill>
              <a:srgbClr val="92D050"/>
            </a:solidFill>
            <a:ln w="12700">
              <a:solidFill>
                <a:srgbClr val="000000"/>
              </a:solidFill>
            </a:ln>
          </p:spPr>
        </p:sp>
      </p:grpSp>
      <p:grpSp>
        <p:nvGrpSpPr>
          <p:cNvPr id="85" name="Group 85"/>
          <p:cNvGrpSpPr/>
          <p:nvPr/>
        </p:nvGrpSpPr>
        <p:grpSpPr>
          <a:xfrm>
            <a:off x="13950163" y="6829682"/>
            <a:ext cx="38100" cy="988200"/>
            <a:chOff x="0" y="0"/>
            <a:chExt cx="50800" cy="1317600"/>
          </a:xfrm>
        </p:grpSpPr>
        <p:sp>
          <p:nvSpPr>
            <p:cNvPr id="86" name="Freeform 86"/>
            <p:cNvSpPr/>
            <p:nvPr/>
          </p:nvSpPr>
          <p:spPr>
            <a:xfrm>
              <a:off x="0" y="25400"/>
              <a:ext cx="50800" cy="1266825"/>
            </a:xfrm>
            <a:custGeom>
              <a:avLst/>
              <a:gdLst/>
              <a:ahLst/>
              <a:cxnLst/>
              <a:rect l="l" t="t" r="r" b="b"/>
              <a:pathLst>
                <a:path w="50800" h="1266825">
                  <a:moveTo>
                    <a:pt x="50800" y="0"/>
                  </a:moveTo>
                  <a:lnTo>
                    <a:pt x="50800" y="1266825"/>
                  </a:lnTo>
                  <a:lnTo>
                    <a:pt x="0" y="1266825"/>
                  </a:lnTo>
                  <a:lnTo>
                    <a:pt x="0" y="0"/>
                  </a:lnTo>
                  <a:close/>
                </a:path>
              </a:pathLst>
            </a:custGeom>
            <a:solidFill>
              <a:srgbClr val="305496"/>
            </a:solidFill>
            <a:ln w="12700">
              <a:solidFill>
                <a:srgbClr val="000000"/>
              </a:solidFill>
            </a:ln>
          </p:spPr>
        </p:sp>
      </p:grpSp>
      <p:grpSp>
        <p:nvGrpSpPr>
          <p:cNvPr id="87" name="Group 24">
            <a:extLst>
              <a:ext uri="{FF2B5EF4-FFF2-40B4-BE49-F238E27FC236}">
                <a16:creationId xmlns:a16="http://schemas.microsoft.com/office/drawing/2014/main" id="{E699C626-4506-44D9-B6B8-0F299737997E}"/>
              </a:ext>
            </a:extLst>
          </p:cNvPr>
          <p:cNvGrpSpPr/>
          <p:nvPr/>
        </p:nvGrpSpPr>
        <p:grpSpPr>
          <a:xfrm>
            <a:off x="-9496" y="1610"/>
            <a:ext cx="1789547" cy="1113206"/>
            <a:chOff x="0" y="0"/>
            <a:chExt cx="2386063" cy="1484274"/>
          </a:xfrm>
        </p:grpSpPr>
        <p:sp>
          <p:nvSpPr>
            <p:cNvPr id="88" name="Freeform 25">
              <a:extLst>
                <a:ext uri="{FF2B5EF4-FFF2-40B4-BE49-F238E27FC236}">
                  <a16:creationId xmlns:a16="http://schemas.microsoft.com/office/drawing/2014/main" id="{2BED16E2-07A6-4861-9C1B-161996125431}"/>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36" name="TextBox 36"/>
          <p:cNvSpPr txBox="1"/>
          <p:nvPr/>
        </p:nvSpPr>
        <p:spPr>
          <a:xfrm>
            <a:off x="2321242" y="176403"/>
            <a:ext cx="2933548" cy="852297"/>
          </a:xfrm>
          <a:prstGeom prst="rect">
            <a:avLst/>
          </a:prstGeom>
        </p:spPr>
        <p:txBody>
          <a:bodyPr lIns="0" tIns="0" rIns="0" bIns="0" rtlCol="0" anchor="t">
            <a:spAutoFit/>
          </a:bodyPr>
          <a:lstStyle/>
          <a:p>
            <a:pPr algn="just">
              <a:lnSpc>
                <a:spcPts val="6355"/>
              </a:lnSpc>
            </a:pPr>
            <a:r>
              <a:rPr lang="en-US" sz="4889" b="1">
                <a:solidFill>
                  <a:srgbClr val="B11A3C"/>
                </a:solidFill>
                <a:latin typeface="Roboto Bold"/>
                <a:ea typeface="Roboto Bold"/>
                <a:cs typeface="Roboto Bold"/>
                <a:sym typeface="Roboto Bold"/>
              </a:rPr>
              <a:t>4.  Anexos</a:t>
            </a:r>
          </a:p>
        </p:txBody>
      </p:sp>
      <p:sp>
        <p:nvSpPr>
          <p:cNvPr id="37" name="TextBox 37"/>
          <p:cNvSpPr txBox="1"/>
          <p:nvPr/>
        </p:nvSpPr>
        <p:spPr>
          <a:xfrm>
            <a:off x="2701709" y="1366218"/>
            <a:ext cx="14693560" cy="608543"/>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4.1 Describa brevemente cuál fue la causa de su insatisfacción</a:t>
            </a:r>
          </a:p>
        </p:txBody>
      </p:sp>
      <p:sp>
        <p:nvSpPr>
          <p:cNvPr id="38" name="TextBox 38"/>
          <p:cNvSpPr txBox="1"/>
          <p:nvPr/>
        </p:nvSpPr>
        <p:spPr>
          <a:xfrm>
            <a:off x="2701709" y="2323890"/>
            <a:ext cx="14693560" cy="5896889"/>
          </a:xfrm>
          <a:prstGeom prst="rect">
            <a:avLst/>
          </a:prstGeom>
        </p:spPr>
        <p:txBody>
          <a:bodyPr lIns="0" tIns="0" rIns="0" bIns="0" rtlCol="0" anchor="t">
            <a:spAutoFit/>
          </a:bodyPr>
          <a:lstStyle/>
          <a:p>
            <a:pPr marL="505987" lvl="2" indent="-168662" algn="just">
              <a:lnSpc>
                <a:spcPts val="3099"/>
              </a:lnSpc>
              <a:buFont typeface="Arial"/>
              <a:buChar char="⚬"/>
            </a:pPr>
            <a:r>
              <a:rPr lang="en-US" sz="2213">
                <a:solidFill>
                  <a:srgbClr val="3F62A2"/>
                </a:solidFill>
                <a:latin typeface="Roboto"/>
                <a:ea typeface="Roboto"/>
                <a:cs typeface="Roboto"/>
                <a:sym typeface="Roboto"/>
              </a:rPr>
              <a:t>“El sistema para ingresar información a la sunat mediante el extranet cada año es peor, sistema se cuelga, aveces no hay sistema por un 1 a 3 horas; hay que hacer maravillas para poder numerar, deberian mejorar el sistema de aduanas implementando uno mas moderno ya que estamos en pleno 2025 y ya no deberian persistir estos problemas; ya que en la actualidad por algún error, es sometido a multa del 10% de la UIT, esos fondos deberian usarse para implementar un sistema de calidad; para un mejor desempeño. Rapido y eficaz por ambas partes tanto beneficioso para el transportista y adunas.”</a:t>
            </a:r>
          </a:p>
          <a:p>
            <a:pPr marL="505987" lvl="2" indent="-168662" algn="just">
              <a:lnSpc>
                <a:spcPts val="3099"/>
              </a:lnSpc>
              <a:buFont typeface="Arial"/>
              <a:buChar char="⚬"/>
            </a:pPr>
            <a:r>
              <a:rPr lang="en-US" sz="2213">
                <a:solidFill>
                  <a:srgbClr val="3F62A2"/>
                </a:solidFill>
                <a:latin typeface="Roboto"/>
                <a:ea typeface="Roboto"/>
                <a:cs typeface="Roboto"/>
                <a:sym typeface="Roboto"/>
              </a:rPr>
              <a:t>“Poca empatía con los usuarios, en el tiempo de espera. no todos , digamos un 30% personal es apatico a las urgencias y problemas de los usuarios que le puedan suceder”</a:t>
            </a:r>
          </a:p>
          <a:p>
            <a:pPr marL="505987" lvl="2" indent="-168662" algn="just">
              <a:lnSpc>
                <a:spcPts val="3099"/>
              </a:lnSpc>
              <a:buFont typeface="Arial"/>
              <a:buChar char="⚬"/>
            </a:pPr>
            <a:r>
              <a:rPr lang="en-US" sz="2213">
                <a:solidFill>
                  <a:srgbClr val="3F62A2"/>
                </a:solidFill>
                <a:latin typeface="Roboto"/>
                <a:ea typeface="Roboto"/>
                <a:cs typeface="Roboto"/>
                <a:sym typeface="Roboto"/>
              </a:rPr>
              <a:t>“La atención de expedientes de solicitudes no es tan rápido como desearía”</a:t>
            </a:r>
          </a:p>
          <a:p>
            <a:pPr marL="505987" lvl="2" indent="-168662" algn="just">
              <a:lnSpc>
                <a:spcPts val="3099"/>
              </a:lnSpc>
              <a:buFont typeface="Arial"/>
              <a:buChar char="⚬"/>
            </a:pPr>
            <a:r>
              <a:rPr lang="en-US" sz="2213">
                <a:solidFill>
                  <a:srgbClr val="3F62A2"/>
                </a:solidFill>
                <a:latin typeface="Roboto"/>
                <a:ea typeface="Roboto"/>
                <a:cs typeface="Roboto"/>
                <a:sym typeface="Roboto"/>
              </a:rPr>
              <a:t>“Es muy complicado pedir las claves. Si uno no tiene algún teléfono de alguien de la aduana o sunat simplemente no sabes como sacarlo”</a:t>
            </a:r>
          </a:p>
          <a:p>
            <a:pPr marL="505987" lvl="2" indent="-168662" algn="just">
              <a:lnSpc>
                <a:spcPts val="3099"/>
              </a:lnSpc>
              <a:buFont typeface="Arial"/>
              <a:buChar char="⚬"/>
            </a:pPr>
            <a:r>
              <a:rPr lang="en-US" sz="2213">
                <a:solidFill>
                  <a:srgbClr val="3F62A2"/>
                </a:solidFill>
                <a:latin typeface="Roboto"/>
                <a:ea typeface="Roboto"/>
                <a:cs typeface="Roboto"/>
                <a:sym typeface="Roboto"/>
              </a:rPr>
              <a:t>“REFERENTE A LA ATENCION EN FRONTERA, ES POR LA DEMORA EN LA ATENCION POR PARTE DEL PERSONAL DE ADUANA”</a:t>
            </a:r>
          </a:p>
          <a:p>
            <a:pPr marL="505987" lvl="2" indent="-168662" algn="just">
              <a:lnSpc>
                <a:spcPts val="3099"/>
              </a:lnSpc>
              <a:buFont typeface="Arial"/>
              <a:buChar char="⚬"/>
            </a:pPr>
            <a:r>
              <a:rPr lang="en-US" sz="2213">
                <a:solidFill>
                  <a:srgbClr val="3F62A2"/>
                </a:solidFill>
                <a:latin typeface="Roboto"/>
                <a:ea typeface="Roboto"/>
                <a:cs typeface="Roboto"/>
                <a:sym typeface="Roboto"/>
              </a:rPr>
              <a:t>“La transmisión de datos se ha caido reiteradamente y los controles en Santa Rosa en horarios y días puntuales son muy lentos debido a que no hay el personal suficiente para atender a tantos transportistas”</a:t>
            </a:r>
          </a:p>
        </p:txBody>
      </p:sp>
      <p:grpSp>
        <p:nvGrpSpPr>
          <p:cNvPr id="39" name="Group 24">
            <a:extLst>
              <a:ext uri="{FF2B5EF4-FFF2-40B4-BE49-F238E27FC236}">
                <a16:creationId xmlns:a16="http://schemas.microsoft.com/office/drawing/2014/main" id="{268BD38B-8F7B-4094-B8DE-F75D9A1977B3}"/>
              </a:ext>
            </a:extLst>
          </p:cNvPr>
          <p:cNvGrpSpPr/>
          <p:nvPr/>
        </p:nvGrpSpPr>
        <p:grpSpPr>
          <a:xfrm>
            <a:off x="-9496" y="1610"/>
            <a:ext cx="1789547" cy="1113206"/>
            <a:chOff x="0" y="0"/>
            <a:chExt cx="2386063" cy="1484274"/>
          </a:xfrm>
        </p:grpSpPr>
        <p:sp>
          <p:nvSpPr>
            <p:cNvPr id="40" name="Freeform 25">
              <a:extLst>
                <a:ext uri="{FF2B5EF4-FFF2-40B4-BE49-F238E27FC236}">
                  <a16:creationId xmlns:a16="http://schemas.microsoft.com/office/drawing/2014/main" id="{8F09B092-FBF4-47F0-A69C-341F2697057E}"/>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39250"/>
            <a:ext cx="18288000" cy="1066800"/>
            <a:chOff x="0" y="0"/>
            <a:chExt cx="24384000" cy="1422400"/>
          </a:xfrm>
        </p:grpSpPr>
        <p:sp>
          <p:nvSpPr>
            <p:cNvPr id="3" name="Freeform 3"/>
            <p:cNvSpPr/>
            <p:nvPr/>
          </p:nvSpPr>
          <p:spPr>
            <a:xfrm>
              <a:off x="0" y="0"/>
              <a:ext cx="24384000" cy="1422400"/>
            </a:xfrm>
            <a:custGeom>
              <a:avLst/>
              <a:gdLst/>
              <a:ahLst/>
              <a:cxnLst/>
              <a:rect l="l" t="t" r="r" b="b"/>
              <a:pathLst>
                <a:path w="24384000" h="1422400">
                  <a:moveTo>
                    <a:pt x="0" y="0"/>
                  </a:moveTo>
                  <a:lnTo>
                    <a:pt x="24384000" y="0"/>
                  </a:lnTo>
                  <a:lnTo>
                    <a:pt x="24384000" y="1422400"/>
                  </a:lnTo>
                  <a:lnTo>
                    <a:pt x="0" y="1422400"/>
                  </a:lnTo>
                  <a:close/>
                </a:path>
              </a:pathLst>
            </a:custGeom>
            <a:solidFill>
              <a:srgbClr val="1F497D"/>
            </a:solidFill>
            <a:ln w="12700">
              <a:solidFill>
                <a:srgbClr val="000000"/>
              </a:solidFill>
            </a:ln>
          </p:spPr>
        </p:sp>
      </p:grpSp>
      <p:sp>
        <p:nvSpPr>
          <p:cNvPr id="4" name="Freeform 4"/>
          <p:cNvSpPr/>
          <p:nvPr/>
        </p:nvSpPr>
        <p:spPr>
          <a:xfrm>
            <a:off x="15707192" y="9279865"/>
            <a:ext cx="2343826" cy="1388926"/>
          </a:xfrm>
          <a:custGeom>
            <a:avLst/>
            <a:gdLst/>
            <a:ahLst/>
            <a:cxnLst/>
            <a:rect l="l" t="t" r="r" b="b"/>
            <a:pathLst>
              <a:path w="2343826" h="1388926">
                <a:moveTo>
                  <a:pt x="0" y="0"/>
                </a:moveTo>
                <a:lnTo>
                  <a:pt x="2343826" y="0"/>
                </a:lnTo>
                <a:lnTo>
                  <a:pt x="2343826" y="1388926"/>
                </a:lnTo>
                <a:lnTo>
                  <a:pt x="0" y="1388926"/>
                </a:lnTo>
                <a:lnTo>
                  <a:pt x="0" y="0"/>
                </a:lnTo>
                <a:close/>
              </a:path>
            </a:pathLst>
          </a:custGeom>
          <a:blipFill>
            <a:blip r:embed="rId3">
              <a:extLst>
                <a:ext uri="{96DAC541-7B7A-43D3-8B79-37D633B846F1}">
                  <asvg:svgBlip xmlns:asvg="http://schemas.microsoft.com/office/drawing/2016/SVG/main" r:embed="rId4"/>
                </a:ext>
              </a:extLst>
            </a:blip>
            <a:stretch>
              <a:fillRect l="-126" r="-126"/>
            </a:stretch>
          </a:blipFill>
        </p:spPr>
      </p:sp>
      <p:grpSp>
        <p:nvGrpSpPr>
          <p:cNvPr id="5" name="Group 5"/>
          <p:cNvGrpSpPr/>
          <p:nvPr/>
        </p:nvGrpSpPr>
        <p:grpSpPr>
          <a:xfrm>
            <a:off x="16174641" y="-32223"/>
            <a:ext cx="1101280" cy="207169"/>
            <a:chOff x="0" y="0"/>
            <a:chExt cx="1468374" cy="276225"/>
          </a:xfrm>
        </p:grpSpPr>
        <p:sp>
          <p:nvSpPr>
            <p:cNvPr id="6" name="Freeform 6"/>
            <p:cNvSpPr/>
            <p:nvPr/>
          </p:nvSpPr>
          <p:spPr>
            <a:xfrm>
              <a:off x="0" y="0"/>
              <a:ext cx="1468374" cy="276225"/>
            </a:xfrm>
            <a:custGeom>
              <a:avLst/>
              <a:gdLst/>
              <a:ahLst/>
              <a:cxnLst/>
              <a:rect l="l" t="t" r="r" b="b"/>
              <a:pathLst>
                <a:path w="1468374" h="276225">
                  <a:moveTo>
                    <a:pt x="0" y="0"/>
                  </a:moveTo>
                  <a:lnTo>
                    <a:pt x="1468374" y="0"/>
                  </a:lnTo>
                  <a:lnTo>
                    <a:pt x="1468374" y="276225"/>
                  </a:lnTo>
                  <a:lnTo>
                    <a:pt x="0" y="276225"/>
                  </a:lnTo>
                  <a:close/>
                </a:path>
              </a:pathLst>
            </a:custGeom>
            <a:solidFill>
              <a:srgbClr val="C0504D"/>
            </a:solidFill>
            <a:ln w="12700">
              <a:solidFill>
                <a:srgbClr val="000000"/>
              </a:solidFill>
            </a:ln>
          </p:spPr>
        </p:sp>
      </p:grpSp>
      <p:grpSp>
        <p:nvGrpSpPr>
          <p:cNvPr id="7" name="Group 7"/>
          <p:cNvGrpSpPr/>
          <p:nvPr/>
        </p:nvGrpSpPr>
        <p:grpSpPr>
          <a:xfrm>
            <a:off x="2701709" y="9324975"/>
            <a:ext cx="2846489" cy="861965"/>
            <a:chOff x="0" y="0"/>
            <a:chExt cx="3795319" cy="1149286"/>
          </a:xfrm>
        </p:grpSpPr>
        <p:sp>
          <p:nvSpPr>
            <p:cNvPr id="8" name="Freeform 8"/>
            <p:cNvSpPr/>
            <p:nvPr/>
          </p:nvSpPr>
          <p:spPr>
            <a:xfrm>
              <a:off x="0" y="0"/>
              <a:ext cx="3795268" cy="1149350"/>
            </a:xfrm>
            <a:custGeom>
              <a:avLst/>
              <a:gdLst/>
              <a:ahLst/>
              <a:cxnLst/>
              <a:rect l="l" t="t" r="r" b="b"/>
              <a:pathLst>
                <a:path w="3795268" h="1149350">
                  <a:moveTo>
                    <a:pt x="0" y="0"/>
                  </a:moveTo>
                  <a:lnTo>
                    <a:pt x="3795268" y="0"/>
                  </a:lnTo>
                  <a:lnTo>
                    <a:pt x="3795268" y="1149350"/>
                  </a:lnTo>
                  <a:lnTo>
                    <a:pt x="0" y="1149350"/>
                  </a:lnTo>
                  <a:lnTo>
                    <a:pt x="0" y="0"/>
                  </a:lnTo>
                  <a:close/>
                </a:path>
              </a:pathLst>
            </a:custGeom>
            <a:blipFill>
              <a:blip r:embed="rId5"/>
              <a:stretch>
                <a:fillRect r="-1" b="5"/>
              </a:stretch>
            </a:blipFill>
          </p:spPr>
        </p:sp>
      </p:grpSp>
      <p:grpSp>
        <p:nvGrpSpPr>
          <p:cNvPr id="9" name="Group 9"/>
          <p:cNvGrpSpPr/>
          <p:nvPr/>
        </p:nvGrpSpPr>
        <p:grpSpPr>
          <a:xfrm>
            <a:off x="413299" y="9472260"/>
            <a:ext cx="1982991" cy="567404"/>
            <a:chOff x="0" y="0"/>
            <a:chExt cx="2643988" cy="756539"/>
          </a:xfrm>
        </p:grpSpPr>
        <p:sp>
          <p:nvSpPr>
            <p:cNvPr id="10" name="Freeform 10"/>
            <p:cNvSpPr/>
            <p:nvPr/>
          </p:nvSpPr>
          <p:spPr>
            <a:xfrm>
              <a:off x="0" y="0"/>
              <a:ext cx="2644013" cy="756539"/>
            </a:xfrm>
            <a:custGeom>
              <a:avLst/>
              <a:gdLst/>
              <a:ahLst/>
              <a:cxnLst/>
              <a:rect l="l" t="t" r="r" b="b"/>
              <a:pathLst>
                <a:path w="2644013" h="756539">
                  <a:moveTo>
                    <a:pt x="0" y="0"/>
                  </a:moveTo>
                  <a:lnTo>
                    <a:pt x="2644013" y="0"/>
                  </a:lnTo>
                  <a:lnTo>
                    <a:pt x="2644013" y="756539"/>
                  </a:lnTo>
                  <a:lnTo>
                    <a:pt x="0" y="756539"/>
                  </a:lnTo>
                  <a:lnTo>
                    <a:pt x="0" y="0"/>
                  </a:lnTo>
                  <a:close/>
                </a:path>
              </a:pathLst>
            </a:custGeom>
            <a:blipFill>
              <a:blip r:embed="rId6"/>
              <a:stretch>
                <a:fillRect/>
              </a:stretch>
            </a:blipFill>
          </p:spPr>
        </p:sp>
      </p:grpSp>
      <p:sp>
        <p:nvSpPr>
          <p:cNvPr id="36" name="TextBox 36"/>
          <p:cNvSpPr txBox="1"/>
          <p:nvPr/>
        </p:nvSpPr>
        <p:spPr>
          <a:xfrm>
            <a:off x="2321242" y="176403"/>
            <a:ext cx="2933548" cy="852297"/>
          </a:xfrm>
          <a:prstGeom prst="rect">
            <a:avLst/>
          </a:prstGeom>
        </p:spPr>
        <p:txBody>
          <a:bodyPr lIns="0" tIns="0" rIns="0" bIns="0" rtlCol="0" anchor="t">
            <a:spAutoFit/>
          </a:bodyPr>
          <a:lstStyle/>
          <a:p>
            <a:pPr algn="just">
              <a:lnSpc>
                <a:spcPts val="6355"/>
              </a:lnSpc>
            </a:pPr>
            <a:r>
              <a:rPr lang="en-US" sz="4889" b="1">
                <a:solidFill>
                  <a:srgbClr val="B11A3C"/>
                </a:solidFill>
                <a:latin typeface="Roboto Bold"/>
                <a:ea typeface="Roboto Bold"/>
                <a:cs typeface="Roboto Bold"/>
                <a:sym typeface="Roboto Bold"/>
              </a:rPr>
              <a:t>4.  Anexos</a:t>
            </a:r>
          </a:p>
        </p:txBody>
      </p:sp>
      <p:sp>
        <p:nvSpPr>
          <p:cNvPr id="37" name="TextBox 37"/>
          <p:cNvSpPr txBox="1"/>
          <p:nvPr/>
        </p:nvSpPr>
        <p:spPr>
          <a:xfrm>
            <a:off x="2701709" y="1057646"/>
            <a:ext cx="14693560" cy="1210437"/>
          </a:xfrm>
          <a:prstGeom prst="rect">
            <a:avLst/>
          </a:prstGeom>
        </p:spPr>
        <p:txBody>
          <a:bodyPr lIns="0" tIns="0" rIns="0" bIns="0" rtlCol="0" anchor="t">
            <a:spAutoFit/>
          </a:bodyPr>
          <a:lstStyle/>
          <a:p>
            <a:pPr algn="just">
              <a:lnSpc>
                <a:spcPts val="4796"/>
              </a:lnSpc>
            </a:pPr>
            <a:r>
              <a:rPr lang="en-US" sz="3689" b="1">
                <a:solidFill>
                  <a:srgbClr val="1F497D"/>
                </a:solidFill>
                <a:latin typeface="Roboto Bold"/>
                <a:ea typeface="Roboto Bold"/>
                <a:cs typeface="Roboto Bold"/>
                <a:sym typeface="Roboto Bold"/>
              </a:rPr>
              <a:t>4.2 ¿Cómo considera usted que podríamos brindarle una mejor atención en la Sección de Manifiestos? </a:t>
            </a:r>
          </a:p>
        </p:txBody>
      </p:sp>
      <p:sp>
        <p:nvSpPr>
          <p:cNvPr id="38" name="TextBox 38"/>
          <p:cNvSpPr txBox="1"/>
          <p:nvPr/>
        </p:nvSpPr>
        <p:spPr>
          <a:xfrm>
            <a:off x="2701709" y="2367067"/>
            <a:ext cx="14693560" cy="6677939"/>
          </a:xfrm>
          <a:prstGeom prst="rect">
            <a:avLst/>
          </a:prstGeom>
        </p:spPr>
        <p:txBody>
          <a:bodyPr lIns="0" tIns="0" rIns="0" bIns="0" rtlCol="0" anchor="t">
            <a:spAutoFit/>
          </a:bodyPr>
          <a:lstStyle/>
          <a:p>
            <a:pPr marL="505987" lvl="2" indent="-168662" algn="just">
              <a:lnSpc>
                <a:spcPts val="3099"/>
              </a:lnSpc>
              <a:buFont typeface="Arial"/>
              <a:buChar char="⚬"/>
            </a:pPr>
            <a:r>
              <a:rPr lang="en-US" sz="2213">
                <a:solidFill>
                  <a:srgbClr val="3F62A2"/>
                </a:solidFill>
                <a:latin typeface="Roboto"/>
                <a:ea typeface="Roboto"/>
                <a:cs typeface="Roboto"/>
                <a:sym typeface="Roboto"/>
              </a:rPr>
              <a:t>“Que la hora de atención sea los días sabados”</a:t>
            </a:r>
          </a:p>
          <a:p>
            <a:pPr marL="505987" lvl="2" indent="-168662" algn="just">
              <a:lnSpc>
                <a:spcPts val="3099"/>
              </a:lnSpc>
              <a:buFont typeface="Arial"/>
              <a:buChar char="⚬"/>
            </a:pPr>
            <a:r>
              <a:rPr lang="en-US" sz="2213">
                <a:solidFill>
                  <a:srgbClr val="3F62A2"/>
                </a:solidFill>
                <a:latin typeface="Roboto"/>
                <a:ea typeface="Roboto"/>
                <a:cs typeface="Roboto"/>
                <a:sym typeface="Roboto"/>
              </a:rPr>
              <a:t>“QUE LAS RECTIFICACIONES DE MANIFIESTO SE HAGAN EN UN BREVE PLAZO”</a:t>
            </a:r>
          </a:p>
          <a:p>
            <a:pPr marL="505987" lvl="2" indent="-168662" algn="just">
              <a:lnSpc>
                <a:spcPts val="3099"/>
              </a:lnSpc>
              <a:buFont typeface="Arial"/>
              <a:buChar char="⚬"/>
            </a:pPr>
            <a:r>
              <a:rPr lang="en-US" sz="2213">
                <a:solidFill>
                  <a:srgbClr val="3F62A2"/>
                </a:solidFill>
                <a:latin typeface="Roboto"/>
                <a:ea typeface="Roboto"/>
                <a:cs typeface="Roboto"/>
                <a:sym typeface="Roboto"/>
              </a:rPr>
              <a:t>“charla de coordinación entre las areas operativas y manifiestos juntos”</a:t>
            </a:r>
          </a:p>
          <a:p>
            <a:pPr marL="505987" lvl="2" indent="-168662" algn="just">
              <a:lnSpc>
                <a:spcPts val="3099"/>
              </a:lnSpc>
              <a:buFont typeface="Arial"/>
              <a:buChar char="⚬"/>
            </a:pPr>
            <a:r>
              <a:rPr lang="en-US" sz="2213">
                <a:solidFill>
                  <a:srgbClr val="3F62A2"/>
                </a:solidFill>
                <a:latin typeface="Roboto"/>
                <a:ea typeface="Roboto"/>
                <a:cs typeface="Roboto"/>
                <a:sym typeface="Roboto"/>
              </a:rPr>
              <a:t>“Escuchando las problemáticas de los transportistas y tramitadores, dando una solución eficaz a esos conflictos; ya que todas las charlas que se realizan en aduanas tacna, siempre trata de lo mismo y nunca hay una solución a los problemas presentados en anteriores charlas”</a:t>
            </a:r>
          </a:p>
          <a:p>
            <a:pPr marL="505987" lvl="2" indent="-168662" algn="just">
              <a:lnSpc>
                <a:spcPts val="3099"/>
              </a:lnSpc>
              <a:buFont typeface="Arial"/>
              <a:buChar char="⚬"/>
            </a:pPr>
            <a:r>
              <a:rPr lang="en-US" sz="2213">
                <a:solidFill>
                  <a:srgbClr val="3F62A2"/>
                </a:solidFill>
                <a:latin typeface="Roboto"/>
                <a:ea typeface="Roboto"/>
                <a:cs typeface="Roboto"/>
                <a:sym typeface="Roboto"/>
              </a:rPr>
              <a:t>“Que se alargue el tiempo de atención a 5pm”</a:t>
            </a:r>
          </a:p>
          <a:p>
            <a:pPr marL="505987" lvl="2" indent="-168662" algn="just">
              <a:lnSpc>
                <a:spcPts val="3099"/>
              </a:lnSpc>
              <a:buFont typeface="Arial"/>
              <a:buChar char="⚬"/>
            </a:pPr>
            <a:r>
              <a:rPr lang="en-US" sz="2213">
                <a:solidFill>
                  <a:srgbClr val="3F62A2"/>
                </a:solidFill>
                <a:latin typeface="Roboto"/>
                <a:ea typeface="Roboto"/>
                <a:cs typeface="Roboto"/>
                <a:sym typeface="Roboto"/>
              </a:rPr>
              <a:t>“QUE LA CONSULTA SEA ATENDIDA EN BREVE PLAZO”</a:t>
            </a:r>
          </a:p>
          <a:p>
            <a:pPr marL="505987" lvl="2" indent="-168662" algn="just">
              <a:lnSpc>
                <a:spcPts val="3099"/>
              </a:lnSpc>
              <a:buFont typeface="Arial"/>
              <a:buChar char="⚬"/>
            </a:pPr>
            <a:r>
              <a:rPr lang="en-US" sz="2213">
                <a:solidFill>
                  <a:srgbClr val="3F62A2"/>
                </a:solidFill>
                <a:latin typeface="Roboto"/>
                <a:ea typeface="Roboto"/>
                <a:cs typeface="Roboto"/>
                <a:sym typeface="Roboto"/>
              </a:rPr>
              <a:t>“Es difícil, como institución la SUNAT es la que genera los problemas con sus procedimientos”</a:t>
            </a:r>
          </a:p>
          <a:p>
            <a:pPr marL="505987" lvl="2" indent="-168662" algn="just">
              <a:lnSpc>
                <a:spcPts val="3099"/>
              </a:lnSpc>
              <a:buFont typeface="Arial"/>
              <a:buChar char="⚬"/>
            </a:pPr>
            <a:r>
              <a:rPr lang="en-US" sz="2213">
                <a:solidFill>
                  <a:srgbClr val="3F62A2"/>
                </a:solidFill>
                <a:latin typeface="Roboto"/>
                <a:ea typeface="Roboto"/>
                <a:cs typeface="Roboto"/>
                <a:sym typeface="Roboto"/>
              </a:rPr>
              <a:t>“la mejoria en el sistema web al momento de realizar la transmision para la numeracion de los manifiestos”</a:t>
            </a:r>
          </a:p>
          <a:p>
            <a:pPr marL="505987" lvl="2" indent="-168662" algn="just">
              <a:lnSpc>
                <a:spcPts val="3099"/>
              </a:lnSpc>
              <a:buFont typeface="Arial"/>
              <a:buChar char="⚬"/>
            </a:pPr>
            <a:r>
              <a:rPr lang="en-US" sz="2213">
                <a:solidFill>
                  <a:srgbClr val="3F62A2"/>
                </a:solidFill>
                <a:latin typeface="Roboto"/>
                <a:ea typeface="Roboto"/>
                <a:cs typeface="Roboto"/>
                <a:sym typeface="Roboto"/>
              </a:rPr>
              <a:t>“Brindando más charlas para mantenernos siempre informados de los cambios que se puedan presentar, estar alertar en el área en cuanto caiga el sistema para restablecerlo pronto, a veces el portal se cuelga y no se puede avanzar tanto para ingreso como para salida”</a:t>
            </a:r>
          </a:p>
          <a:p>
            <a:pPr marL="505987" lvl="2" indent="-168662" algn="just">
              <a:lnSpc>
                <a:spcPts val="3099"/>
              </a:lnSpc>
              <a:buFont typeface="Arial"/>
              <a:buChar char="⚬"/>
            </a:pPr>
            <a:r>
              <a:rPr lang="en-US" sz="2213">
                <a:solidFill>
                  <a:srgbClr val="3F62A2"/>
                </a:solidFill>
                <a:latin typeface="Roboto"/>
                <a:ea typeface="Roboto"/>
                <a:cs typeface="Roboto"/>
                <a:sym typeface="Roboto"/>
              </a:rPr>
              <a:t>“Charlas con mas casos practicos”</a:t>
            </a:r>
          </a:p>
          <a:p>
            <a:pPr marL="505987" lvl="2" indent="-168662" algn="just">
              <a:lnSpc>
                <a:spcPts val="3099"/>
              </a:lnSpc>
              <a:buFont typeface="Arial"/>
              <a:buChar char="⚬"/>
            </a:pPr>
            <a:r>
              <a:rPr lang="en-US" sz="2213">
                <a:solidFill>
                  <a:srgbClr val="3F62A2"/>
                </a:solidFill>
                <a:latin typeface="Roboto"/>
                <a:ea typeface="Roboto"/>
                <a:cs typeface="Roboto"/>
                <a:sym typeface="Roboto"/>
              </a:rPr>
              <a:t>“Las charlas están bien, sin embargo se ha pedido reiteradamente que se haga una charla que incluya a la parte operativa del complejo Santa Rosa”</a:t>
            </a:r>
          </a:p>
          <a:p>
            <a:pPr marL="505987" lvl="2" indent="-168662" algn="just">
              <a:lnSpc>
                <a:spcPts val="3099"/>
              </a:lnSpc>
              <a:buFont typeface="Arial"/>
              <a:buChar char="⚬"/>
            </a:pPr>
            <a:r>
              <a:rPr lang="en-US" sz="2213">
                <a:solidFill>
                  <a:srgbClr val="3F62A2"/>
                </a:solidFill>
                <a:latin typeface="Roboto"/>
                <a:ea typeface="Roboto"/>
                <a:cs typeface="Roboto"/>
                <a:sym typeface="Roboto"/>
              </a:rPr>
              <a:t>“Que nos enseñen con ejemplos reales!!!! No solo explicar sino q sean mas didáctico”</a:t>
            </a:r>
          </a:p>
        </p:txBody>
      </p:sp>
      <p:grpSp>
        <p:nvGrpSpPr>
          <p:cNvPr id="39" name="Group 24">
            <a:extLst>
              <a:ext uri="{FF2B5EF4-FFF2-40B4-BE49-F238E27FC236}">
                <a16:creationId xmlns:a16="http://schemas.microsoft.com/office/drawing/2014/main" id="{AD9E4917-4B04-4A24-A7AD-6F8B17CE42C0}"/>
              </a:ext>
            </a:extLst>
          </p:cNvPr>
          <p:cNvGrpSpPr/>
          <p:nvPr/>
        </p:nvGrpSpPr>
        <p:grpSpPr>
          <a:xfrm>
            <a:off x="-9496" y="1610"/>
            <a:ext cx="1789547" cy="1113206"/>
            <a:chOff x="0" y="0"/>
            <a:chExt cx="2386063" cy="1484274"/>
          </a:xfrm>
        </p:grpSpPr>
        <p:sp>
          <p:nvSpPr>
            <p:cNvPr id="40" name="Freeform 25">
              <a:extLst>
                <a:ext uri="{FF2B5EF4-FFF2-40B4-BE49-F238E27FC236}">
                  <a16:creationId xmlns:a16="http://schemas.microsoft.com/office/drawing/2014/main" id="{0C864F7B-7B05-45F1-9D0A-C0313596A759}"/>
                </a:ext>
              </a:extLst>
            </p:cNvPr>
            <p:cNvSpPr/>
            <p:nvPr/>
          </p:nvSpPr>
          <p:spPr>
            <a:xfrm>
              <a:off x="0" y="0"/>
              <a:ext cx="2386076" cy="1484249"/>
            </a:xfrm>
            <a:custGeom>
              <a:avLst/>
              <a:gdLst/>
              <a:ahLst/>
              <a:cxnLst/>
              <a:rect l="l" t="t" r="r" b="b"/>
              <a:pathLst>
                <a:path w="2386076" h="1484249">
                  <a:moveTo>
                    <a:pt x="1548257" y="0"/>
                  </a:moveTo>
                  <a:lnTo>
                    <a:pt x="2386076" y="1484249"/>
                  </a:lnTo>
                  <a:lnTo>
                    <a:pt x="0" y="1484249"/>
                  </a:lnTo>
                  <a:lnTo>
                    <a:pt x="0" y="0"/>
                  </a:lnTo>
                  <a:lnTo>
                    <a:pt x="1548257" y="0"/>
                  </a:lnTo>
                  <a:close/>
                </a:path>
              </a:pathLst>
            </a:custGeom>
            <a:solidFill>
              <a:srgbClr val="195AA3"/>
            </a:solidFill>
            <a:ln w="12700">
              <a:solidFill>
                <a:srgbClr val="000000"/>
              </a:solidFill>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1847</Words>
  <Application>Microsoft Office PowerPoint</Application>
  <PresentationFormat>Personalizado</PresentationFormat>
  <Paragraphs>266</Paragraphs>
  <Slides>12</Slides>
  <Notes>12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Calibri</vt:lpstr>
      <vt:lpstr>Roboto</vt:lpstr>
      <vt:lpstr>Chau Philomene</vt:lpstr>
      <vt:lpstr>Roboto Bold</vt:lpstr>
      <vt:lpstr>Arial</vt:lpstr>
      <vt:lpstr>Arial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ENCUESTA DE SATISFACCIÓN.pptx</dc:title>
  <cp:lastModifiedBy>Sebastian Linares</cp:lastModifiedBy>
  <cp:revision>2</cp:revision>
  <dcterms:created xsi:type="dcterms:W3CDTF">2006-08-16T00:00:00Z</dcterms:created>
  <dcterms:modified xsi:type="dcterms:W3CDTF">2026-01-29T14:00:30Z</dcterms:modified>
  <dc:identifier>DAG8WgXMw_8</dc:identifier>
</cp:coreProperties>
</file>